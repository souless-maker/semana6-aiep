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4"/>
  </p:sldMasterIdLst>
  <p:sldIdLst>
    <p:sldId id="256" r:id="rId5"/>
    <p:sldId id="257" r:id="rId6"/>
    <p:sldId id="258" r:id="rId7"/>
    <p:sldId id="259" r:id="rId8"/>
    <p:sldId id="260" r:id="rId9"/>
    <p:sldId id="275" r:id="rId10"/>
    <p:sldId id="268" r:id="rId11"/>
    <p:sldId id="269" r:id="rId12"/>
    <p:sldId id="276" r:id="rId13"/>
    <p:sldId id="277" r:id="rId14"/>
    <p:sldId id="278" r:id="rId15"/>
    <p:sldId id="283" r:id="rId16"/>
    <p:sldId id="279" r:id="rId17"/>
    <p:sldId id="274" r:id="rId18"/>
    <p:sldId id="280" r:id="rId19"/>
    <p:sldId id="281" r:id="rId20"/>
    <p:sldId id="282" r:id="rId21"/>
    <p:sldId id="273" r:id="rId22"/>
  </p:sldIdLst>
  <p:sldSz cx="12192000" cy="6858000"/>
  <p:notesSz cx="6858000" cy="9144000"/>
  <p:custDataLst>
    <p:tags r:id="rId23"/>
  </p:custData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51CA0-B7EB-A1E7-3EFD-9062782999EF}" v="707" dt="2025-09-26T22:51:23.858"/>
    <p1510:client id="{88207AC9-1397-1F55-9A38-CB45C2ECE392}" v="1439" dt="2025-09-25T21:36:21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39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22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3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3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87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37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78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4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99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6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66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AEB8-2D75-6955-1B97-B06465C4C6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9418" y="807380"/>
            <a:ext cx="10133163" cy="1500186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/>
              <a:t>Título de la presentación</a:t>
            </a:r>
            <a:endParaRPr lang="es-CL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EA7BA1A8-181E-CBBB-E73A-1202B20F65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6613" y="3757613"/>
            <a:ext cx="4005968" cy="150018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/>
                <a:cs typeface="Avenir Regular" panose="020B0503020203020204" pitchFamily="34" charset="-78"/>
              </a:defRPr>
            </a:lvl1pPr>
          </a:lstStyle>
          <a:p>
            <a:pPr algn="l"/>
            <a:r>
              <a:rPr lang="es-CL">
                <a:latin typeface="Avenir Light" panose="020B0402020203020204" pitchFamily="34" charset="77"/>
              </a:rPr>
              <a:t>Autor</a:t>
            </a:r>
          </a:p>
          <a:p>
            <a:pPr algn="l"/>
            <a:r>
              <a:rPr lang="es-CL">
                <a:latin typeface="Avenir Light" panose="020B0402020203020204" pitchFamily="34" charset="77"/>
              </a:rPr>
              <a:t>Dirección/Vicerrectoría</a:t>
            </a:r>
          </a:p>
          <a:p>
            <a:pPr algn="l"/>
            <a:r>
              <a:rPr lang="es-CL">
                <a:latin typeface="Avenir Light" panose="020B0402020203020204" pitchFamily="34" charset="77"/>
              </a:rPr>
              <a:t>Fecha</a:t>
            </a:r>
          </a:p>
        </p:txBody>
      </p:sp>
    </p:spTree>
    <p:extLst>
      <p:ext uri="{BB962C8B-B14F-4D97-AF65-F5344CB8AC3E}">
        <p14:creationId xmlns:p14="http://schemas.microsoft.com/office/powerpoint/2010/main" val="1868806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0"/>
            <a:ext cx="6881527" cy="2032000"/>
          </a:xfrm>
        </p:spPr>
        <p:txBody>
          <a:bodyPr anchor="ctr">
            <a:normAutofit/>
          </a:bodyPr>
          <a:lstStyle>
            <a:lvl1pPr>
              <a:defRPr sz="4400">
                <a:latin typeface="Avenir Book" panose="02000503020000020003"/>
              </a:defRPr>
            </a:lvl1pPr>
          </a:lstStyle>
          <a:p>
            <a:r>
              <a:rPr lang="es-ES"/>
              <a:t>Página de transición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3322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8E476-76CC-9A2A-1AD9-A58140AB16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2355275"/>
            <a:ext cx="6881527" cy="139469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venir Light" panose="020B040202020302020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la bajada del 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1"/>
            <a:ext cx="6881527" cy="1644071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/>
              <a:t>Página de transición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1840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/>
              <a:t>Lámina de transición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376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/>
              <a:t>Lámina de transición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9315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/>
              <a:t>Lámina de transición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7582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admin@elfaro.cl" TargetMode="Externa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F210623-D12D-D1D8-D0AA-76E78FF71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916" y="426380"/>
            <a:ext cx="12517939" cy="1570741"/>
          </a:xfrm>
        </p:spPr>
        <p:txBody>
          <a:bodyPr/>
          <a:lstStyle/>
          <a:p>
            <a:r>
              <a:rPr lang="es-CL" dirty="0">
                <a:solidFill>
                  <a:schemeClr val="tx1"/>
                </a:solidFill>
                <a:latin typeface="Arial"/>
                <a:cs typeface="Arial"/>
              </a:rPr>
              <a:t>"</a:t>
            </a:r>
            <a:r>
              <a:rPr lang="es-CL" b="0" dirty="0">
                <a:solidFill>
                  <a:schemeClr val="tx1"/>
                </a:solidFill>
                <a:latin typeface="Arial"/>
                <a:cs typeface="Arial"/>
              </a:rPr>
              <a:t>ACTUALIZACIÓN "EL FARO"</a:t>
            </a:r>
            <a:endParaRPr lang="es-CL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CB26786-893D-7F3B-0DBC-66C4E3F71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21955" y="3726298"/>
            <a:ext cx="4005968" cy="1500187"/>
          </a:xfrm>
        </p:spPr>
        <p:txBody>
          <a:bodyPr>
            <a:normAutofit/>
          </a:bodyPr>
          <a:lstStyle/>
          <a:p>
            <a:r>
              <a:rPr lang="es-CL" sz="1800" dirty="0">
                <a:solidFill>
                  <a:schemeClr val="tx1"/>
                </a:solidFill>
                <a:latin typeface="Arial"/>
                <a:cs typeface="Avenir Regular"/>
              </a:rPr>
              <a:t>Maximiliano Galindo Díaz</a:t>
            </a:r>
            <a:endParaRPr lang="es-ES" sz="1800">
              <a:solidFill>
                <a:schemeClr val="tx1"/>
              </a:solidFill>
              <a:latin typeface="Arial"/>
              <a:cs typeface="Avenir Regular"/>
            </a:endParaRPr>
          </a:p>
          <a:p>
            <a:r>
              <a:rPr lang="es-CL" sz="1800" dirty="0">
                <a:solidFill>
                  <a:schemeClr val="tx1"/>
                </a:solidFill>
                <a:latin typeface="Arial"/>
                <a:cs typeface="Avenir Regular"/>
              </a:rPr>
              <a:t>Aplicaciones para internet 
Semana 6</a:t>
            </a:r>
            <a:br>
              <a:rPr lang="es-CL" sz="1800" dirty="0">
                <a:solidFill>
                  <a:schemeClr val="tx1"/>
                </a:solidFill>
                <a:latin typeface="Arial"/>
                <a:cs typeface="Avenir Regular"/>
              </a:rPr>
            </a:br>
            <a:r>
              <a:rPr lang="es-CL" sz="1800" dirty="0">
                <a:solidFill>
                  <a:schemeClr val="tx1"/>
                </a:solidFill>
                <a:latin typeface="Arial"/>
                <a:cs typeface="Avenir Regular"/>
              </a:rPr>
              <a:t>23 de septiembre</a:t>
            </a:r>
            <a:endParaRPr lang="es-ES" sz="1800" dirty="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5250E84-424F-2121-5606-D5FC4FFA98A8}"/>
              </a:ext>
            </a:extLst>
          </p:cNvPr>
          <p:cNvCxnSpPr/>
          <p:nvPr/>
        </p:nvCxnSpPr>
        <p:spPr>
          <a:xfrm flipV="1">
            <a:off x="-6448" y="2178992"/>
            <a:ext cx="12208998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6CB65A5-DD45-2163-1657-2E6372D180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01" t="24486" r="35092" b="1203"/>
          <a:stretch>
            <a:fillRect/>
          </a:stretch>
        </p:blipFill>
        <p:spPr>
          <a:xfrm>
            <a:off x="0" y="2423336"/>
            <a:ext cx="6791725" cy="36023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812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F3360C8-E7C7-8CA5-5DCF-2D40B287BFF1}"/>
              </a:ext>
            </a:extLst>
          </p:cNvPr>
          <p:cNvSpPr/>
          <p:nvPr/>
        </p:nvSpPr>
        <p:spPr>
          <a:xfrm>
            <a:off x="5659373" y="2275977"/>
            <a:ext cx="4969774" cy="22913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D2E49BF4-A7B0-C31B-DEC3-B0E6E3611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778" y="362883"/>
            <a:ext cx="6615335" cy="1598934"/>
          </a:xfrm>
        </p:spPr>
        <p:txBody>
          <a:bodyPr anchor="b">
            <a:normAutofit/>
          </a:bodyPr>
          <a:lstStyle/>
          <a:p>
            <a:r>
              <a:rPr lang="es-CL" dirty="0">
                <a:latin typeface="Arial"/>
                <a:cs typeface="Arial"/>
              </a:rPr>
              <a:t>Descripción del proyecto</a:t>
            </a:r>
          </a:p>
          <a:p>
            <a:endParaRPr lang="es-CL" dirty="0">
              <a:latin typeface="Arial"/>
              <a:cs typeface="Arial"/>
            </a:endParaRP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6686DDAF-B6E4-A2DB-60F6-B826C669D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335" y="1781527"/>
            <a:ext cx="3188609" cy="29735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1800" b="1" dirty="0">
                <a:solidFill>
                  <a:srgbClr val="000000"/>
                </a:solidFill>
                <a:latin typeface="Arial"/>
                <a:cs typeface="Arial"/>
              </a:rPr>
              <a:t>Características Principales:</a:t>
            </a:r>
            <a:br>
              <a:rPr lang="es-CL" sz="1800" dirty="0">
                <a:solidFill>
                  <a:srgbClr val="000000"/>
                </a:solidFill>
                <a:latin typeface="Arial"/>
                <a:cs typeface="Arial"/>
              </a:rPr>
            </a:br>
            <a:br>
              <a:rPr lang="es-CL" sz="1800" dirty="0">
                <a:latin typeface="Arial"/>
                <a:cs typeface="Arial"/>
              </a:rPr>
            </a:br>
            <a:r>
              <a:rPr lang="es-CL" sz="1800" dirty="0">
                <a:latin typeface="Arial"/>
                <a:cs typeface="Arial"/>
              </a:rPr>
              <a:t> • Sistema de autenticación                         
 • Panel administrativo   </a:t>
            </a:r>
            <a:endParaRPr lang="es-ES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s-CL" sz="1800" dirty="0">
                <a:latin typeface="Arial"/>
                <a:cs typeface="Arial"/>
              </a:rPr>
              <a:t>                          
 • Formularios funcionales    </a:t>
            </a:r>
            <a:endParaRPr lang="es-ES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s-CL" sz="1800" dirty="0">
                <a:latin typeface="Arial"/>
                <a:cs typeface="Arial"/>
              </a:rPr>
              <a:t> • CMS para noticias                                </a:t>
            </a:r>
            <a:endParaRPr lang="es-ES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s-CL" sz="1800" dirty="0">
                <a:latin typeface="Arial"/>
                <a:cs typeface="Arial"/>
              </a:rPr>
              <a:t> • Diseño responsive                                </a:t>
            </a:r>
            <a:endParaRPr lang="es-ES">
              <a:latin typeface="Arial"/>
              <a:cs typeface="Arial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8C4CAC1-2B25-DE18-5CC5-63D96E8EBD33}"/>
              </a:ext>
            </a:extLst>
          </p:cNvPr>
          <p:cNvCxnSpPr/>
          <p:nvPr/>
        </p:nvCxnSpPr>
        <p:spPr>
          <a:xfrm>
            <a:off x="1979959" y="1304055"/>
            <a:ext cx="6485477" cy="935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Marcador de contenido 8">
            <a:extLst>
              <a:ext uri="{FF2B5EF4-FFF2-40B4-BE49-F238E27FC236}">
                <a16:creationId xmlns:a16="http://schemas.microsoft.com/office/drawing/2014/main" id="{B55FE7B2-0510-FC22-9BFD-82C0447FCD9F}"/>
              </a:ext>
            </a:extLst>
          </p:cNvPr>
          <p:cNvSpPr txBox="1">
            <a:spLocks/>
          </p:cNvSpPr>
          <p:nvPr/>
        </p:nvSpPr>
        <p:spPr>
          <a:xfrm>
            <a:off x="6092050" y="2727709"/>
            <a:ext cx="4411818" cy="14796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1800" dirty="0">
                <a:latin typeface="Arial"/>
                <a:cs typeface="Arial"/>
              </a:rPr>
              <a:t> • Migración Sitio estático &gt; Dinámico.                              
 </a:t>
            </a:r>
            <a:r>
              <a:rPr lang="es-CL" sz="1800">
                <a:latin typeface="Arial"/>
                <a:cs typeface="Arial"/>
              </a:rPr>
              <a:t>• Arquitectura MVC con PHP      </a:t>
            </a:r>
            <a:r>
              <a:rPr lang="es-CL" sz="1800" dirty="0">
                <a:latin typeface="Arial"/>
                <a:cs typeface="Arial"/>
              </a:rPr>
              <a:t>          </a:t>
            </a:r>
            <a:endParaRPr lang="es-ES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s-CL" sz="1800" dirty="0">
                <a:latin typeface="Arial"/>
                <a:cs typeface="Arial"/>
              </a:rPr>
              <a:t> • Gestión de usuarios y contenido.                          </a:t>
            </a:r>
            <a:endParaRPr lang="es-ES">
              <a:latin typeface="Arial"/>
              <a:cs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1F5A4CE-2690-4164-9FB7-40A91593B122}"/>
              </a:ext>
            </a:extLst>
          </p:cNvPr>
          <p:cNvSpPr/>
          <p:nvPr/>
        </p:nvSpPr>
        <p:spPr>
          <a:xfrm>
            <a:off x="796609" y="1594188"/>
            <a:ext cx="3255275" cy="34844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447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C6AC09E-3440-1040-862D-E5AEDC399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057" y="496933"/>
            <a:ext cx="7863122" cy="14229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dirty="0">
                <a:solidFill>
                  <a:srgbClr val="000000"/>
                </a:solidFill>
                <a:latin typeface="Arial"/>
                <a:cs typeface="Arial"/>
              </a:rPr>
              <a:t>Entidades del sistema</a:t>
            </a:r>
            <a:endParaRPr lang="es-ES" dirty="0">
              <a:latin typeface="Arial"/>
              <a:cs typeface="Arial"/>
            </a:endParaRPr>
          </a:p>
          <a:p>
            <a:endParaRPr lang="es-CL" dirty="0">
              <a:latin typeface="Arial"/>
              <a:cs typeface="Arial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FB7943E8-2996-EB1E-712B-C8FABB736947}"/>
              </a:ext>
            </a:extLst>
          </p:cNvPr>
          <p:cNvCxnSpPr/>
          <p:nvPr/>
        </p:nvCxnSpPr>
        <p:spPr>
          <a:xfrm flipV="1">
            <a:off x="2584791" y="1256261"/>
            <a:ext cx="6340127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ECED82-E6D7-9E46-E24B-9F3FE705E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84" y="1710803"/>
            <a:ext cx="12008284" cy="5144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/>
              <a:t> </a:t>
            </a:r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1078EE5-BEC3-5CB5-9696-2ABB03F5E6E2}"/>
              </a:ext>
            </a:extLst>
          </p:cNvPr>
          <p:cNvSpPr/>
          <p:nvPr/>
        </p:nvSpPr>
        <p:spPr>
          <a:xfrm>
            <a:off x="582083" y="1926166"/>
            <a:ext cx="2010833" cy="7408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0CFACB2-0F1A-6492-0F78-78658A405494}"/>
              </a:ext>
            </a:extLst>
          </p:cNvPr>
          <p:cNvSpPr/>
          <p:nvPr/>
        </p:nvSpPr>
        <p:spPr>
          <a:xfrm>
            <a:off x="4089371" y="1926165"/>
            <a:ext cx="2010833" cy="7408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363EF7D-E291-0609-E79C-8A13B4BFBA8C}"/>
              </a:ext>
            </a:extLst>
          </p:cNvPr>
          <p:cNvSpPr/>
          <p:nvPr/>
        </p:nvSpPr>
        <p:spPr>
          <a:xfrm>
            <a:off x="7262631" y="1915727"/>
            <a:ext cx="2010833" cy="7408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BC80321-09C4-9427-AB6E-A78E12AB6136}"/>
              </a:ext>
            </a:extLst>
          </p:cNvPr>
          <p:cNvSpPr/>
          <p:nvPr/>
        </p:nvSpPr>
        <p:spPr>
          <a:xfrm>
            <a:off x="582082" y="3063946"/>
            <a:ext cx="2010833" cy="7408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DBF7D8C-28A2-E69A-345A-A9CA7E3DB170}"/>
              </a:ext>
            </a:extLst>
          </p:cNvPr>
          <p:cNvSpPr/>
          <p:nvPr/>
        </p:nvSpPr>
        <p:spPr>
          <a:xfrm>
            <a:off x="5874330" y="3053508"/>
            <a:ext cx="2772833" cy="751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32" name="CuadroTexto 11">
            <a:extLst>
              <a:ext uri="{FF2B5EF4-FFF2-40B4-BE49-F238E27FC236}">
                <a16:creationId xmlns:a16="http://schemas.microsoft.com/office/drawing/2014/main" id="{1A5B76D9-FF0D-C831-C9FE-73851B2698B7}"/>
              </a:ext>
            </a:extLst>
          </p:cNvPr>
          <p:cNvSpPr txBox="1"/>
          <p:nvPr/>
        </p:nvSpPr>
        <p:spPr>
          <a:xfrm>
            <a:off x="708068" y="2054906"/>
            <a:ext cx="2133917" cy="47210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400" b="1" dirty="0">
                <a:latin typeface="Arial"/>
                <a:cs typeface="Arial"/>
              </a:rPr>
              <a:t>Usuario</a:t>
            </a:r>
            <a:endParaRPr lang="es-ES" dirty="0"/>
          </a:p>
        </p:txBody>
      </p:sp>
      <p:sp>
        <p:nvSpPr>
          <p:cNvPr id="33" name="CuadroTexto 12">
            <a:extLst>
              <a:ext uri="{FF2B5EF4-FFF2-40B4-BE49-F238E27FC236}">
                <a16:creationId xmlns:a16="http://schemas.microsoft.com/office/drawing/2014/main" id="{CCF9225C-E069-3096-20E4-B5B754A17F2E}"/>
              </a:ext>
            </a:extLst>
          </p:cNvPr>
          <p:cNvSpPr txBox="1"/>
          <p:nvPr/>
        </p:nvSpPr>
        <p:spPr>
          <a:xfrm>
            <a:off x="4173602" y="2054905"/>
            <a:ext cx="2133917" cy="47210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400" b="1" dirty="0">
                <a:latin typeface="Arial"/>
                <a:cs typeface="Arial"/>
              </a:rPr>
              <a:t>Artículo</a:t>
            </a:r>
          </a:p>
        </p:txBody>
      </p:sp>
      <p:sp>
        <p:nvSpPr>
          <p:cNvPr id="34" name="CuadroTexto 13">
            <a:extLst>
              <a:ext uri="{FF2B5EF4-FFF2-40B4-BE49-F238E27FC236}">
                <a16:creationId xmlns:a16="http://schemas.microsoft.com/office/drawing/2014/main" id="{F8EEF33C-B7BC-E76C-250F-CC7F184425E9}"/>
              </a:ext>
            </a:extLst>
          </p:cNvPr>
          <p:cNvSpPr txBox="1"/>
          <p:nvPr/>
        </p:nvSpPr>
        <p:spPr>
          <a:xfrm>
            <a:off x="7576505" y="2054905"/>
            <a:ext cx="2133917" cy="47210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400" b="1" dirty="0">
                <a:latin typeface="Arial"/>
                <a:cs typeface="Arial"/>
              </a:rPr>
              <a:t>Categoría</a:t>
            </a:r>
          </a:p>
        </p:txBody>
      </p:sp>
      <p:sp>
        <p:nvSpPr>
          <p:cNvPr id="35" name="CuadroTexto 14">
            <a:extLst>
              <a:ext uri="{FF2B5EF4-FFF2-40B4-BE49-F238E27FC236}">
                <a16:creationId xmlns:a16="http://schemas.microsoft.com/office/drawing/2014/main" id="{14C53AD2-3170-FD39-7964-A5F214904376}"/>
              </a:ext>
            </a:extLst>
          </p:cNvPr>
          <p:cNvSpPr txBox="1"/>
          <p:nvPr/>
        </p:nvSpPr>
        <p:spPr>
          <a:xfrm>
            <a:off x="6344780" y="3234438"/>
            <a:ext cx="2133917" cy="47210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400" b="1" dirty="0">
                <a:latin typeface="Arial"/>
                <a:cs typeface="Arial"/>
              </a:rPr>
              <a:t>Relaciones</a:t>
            </a:r>
            <a:endParaRPr lang="es-ES" dirty="0"/>
          </a:p>
        </p:txBody>
      </p:sp>
      <p:sp>
        <p:nvSpPr>
          <p:cNvPr id="36" name="CuadroTexto 15">
            <a:extLst>
              <a:ext uri="{FF2B5EF4-FFF2-40B4-BE49-F238E27FC236}">
                <a16:creationId xmlns:a16="http://schemas.microsoft.com/office/drawing/2014/main" id="{90D0FBE2-F4B9-CD9D-5AAC-CC88AA901926}"/>
              </a:ext>
            </a:extLst>
          </p:cNvPr>
          <p:cNvSpPr txBox="1"/>
          <p:nvPr/>
        </p:nvSpPr>
        <p:spPr>
          <a:xfrm>
            <a:off x="708067" y="3234438"/>
            <a:ext cx="2133917" cy="47210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400" b="1" dirty="0">
                <a:latin typeface="Arial"/>
                <a:cs typeface="Arial"/>
              </a:rPr>
              <a:t>Contacto</a:t>
            </a:r>
            <a:endParaRPr lang="es-ES" dirty="0"/>
          </a:p>
        </p:txBody>
      </p:sp>
      <p:sp>
        <p:nvSpPr>
          <p:cNvPr id="37" name="CuadroTexto 17">
            <a:extLst>
              <a:ext uri="{FF2B5EF4-FFF2-40B4-BE49-F238E27FC236}">
                <a16:creationId xmlns:a16="http://schemas.microsoft.com/office/drawing/2014/main" id="{E110EF80-98EB-D3A5-A0B4-6638FDE863EB}"/>
              </a:ext>
            </a:extLst>
          </p:cNvPr>
          <p:cNvSpPr txBox="1"/>
          <p:nvPr/>
        </p:nvSpPr>
        <p:spPr>
          <a:xfrm>
            <a:off x="5029547" y="4278274"/>
            <a:ext cx="2551451" cy="242176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s-ES" sz="2400" dirty="0">
                <a:latin typeface="Arial"/>
                <a:cs typeface="Arial"/>
              </a:rPr>
              <a:t>Artículo (1:N)</a:t>
            </a:r>
            <a:endParaRPr lang="es-ES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s-ES" sz="2400" dirty="0">
                <a:latin typeface="Arial"/>
                <a:cs typeface="Arial"/>
              </a:rPr>
              <a:t>Artículo (1:N)</a:t>
            </a:r>
            <a:endParaRPr lang="es-ES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s-ES" sz="2400" dirty="0">
                <a:latin typeface="Arial"/>
                <a:cs typeface="Arial"/>
              </a:rPr>
              <a:t>Usuario (N:1)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endParaRPr lang="es-ES" sz="2400" dirty="0">
              <a:latin typeface="Arial"/>
              <a:cs typeface="Arial"/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C1913B08-77B4-2C88-C30A-0D08F68BE9FD}"/>
              </a:ext>
            </a:extLst>
          </p:cNvPr>
          <p:cNvCxnSpPr/>
          <p:nvPr/>
        </p:nvCxnSpPr>
        <p:spPr>
          <a:xfrm>
            <a:off x="4049647" y="4627526"/>
            <a:ext cx="769538" cy="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EE94829-C60D-B431-2086-17C308478C92}"/>
              </a:ext>
            </a:extLst>
          </p:cNvPr>
          <p:cNvCxnSpPr>
            <a:cxnSpLocks/>
          </p:cNvCxnSpPr>
          <p:nvPr/>
        </p:nvCxnSpPr>
        <p:spPr>
          <a:xfrm>
            <a:off x="4258414" y="5253827"/>
            <a:ext cx="769538" cy="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9205F40E-175D-C7EC-6F17-8CE1B468CEBF}"/>
              </a:ext>
            </a:extLst>
          </p:cNvPr>
          <p:cNvCxnSpPr>
            <a:cxnSpLocks/>
          </p:cNvCxnSpPr>
          <p:nvPr/>
        </p:nvCxnSpPr>
        <p:spPr>
          <a:xfrm>
            <a:off x="4049647" y="5838375"/>
            <a:ext cx="769538" cy="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711D845-C999-D062-ECC9-1E43070FFFD1}"/>
              </a:ext>
            </a:extLst>
          </p:cNvPr>
          <p:cNvCxnSpPr/>
          <p:nvPr/>
        </p:nvCxnSpPr>
        <p:spPr>
          <a:xfrm>
            <a:off x="1532408" y="2656416"/>
            <a:ext cx="290" cy="40100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61337610-F331-35A5-A30B-6B71DE6AA83A}"/>
              </a:ext>
            </a:extLst>
          </p:cNvPr>
          <p:cNvCxnSpPr>
            <a:cxnSpLocks/>
          </p:cNvCxnSpPr>
          <p:nvPr/>
        </p:nvCxnSpPr>
        <p:spPr>
          <a:xfrm>
            <a:off x="5039694" y="2656416"/>
            <a:ext cx="290" cy="160141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628481B-444E-5C66-86EB-DA03A46B4E6E}"/>
              </a:ext>
            </a:extLst>
          </p:cNvPr>
          <p:cNvCxnSpPr>
            <a:cxnSpLocks/>
          </p:cNvCxnSpPr>
          <p:nvPr/>
        </p:nvCxnSpPr>
        <p:spPr>
          <a:xfrm>
            <a:off x="5039697" y="3407977"/>
            <a:ext cx="835356" cy="435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C9DAC8C7-8BEE-AA67-54CA-60EC10F2BF85}"/>
              </a:ext>
            </a:extLst>
          </p:cNvPr>
          <p:cNvCxnSpPr>
            <a:cxnSpLocks/>
          </p:cNvCxnSpPr>
          <p:nvPr/>
        </p:nvCxnSpPr>
        <p:spPr>
          <a:xfrm>
            <a:off x="8265147" y="2645977"/>
            <a:ext cx="290" cy="40100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uadroTexto 16">
            <a:extLst>
              <a:ext uri="{FF2B5EF4-FFF2-40B4-BE49-F238E27FC236}">
                <a16:creationId xmlns:a16="http://schemas.microsoft.com/office/drawing/2014/main" id="{CF96926E-9E1C-6284-3245-CFE4488DBE95}"/>
              </a:ext>
            </a:extLst>
          </p:cNvPr>
          <p:cNvSpPr txBox="1"/>
          <p:nvPr/>
        </p:nvSpPr>
        <p:spPr>
          <a:xfrm>
            <a:off x="2691356" y="4267837"/>
            <a:ext cx="4472108" cy="243220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s-ES" sz="2400" dirty="0">
                <a:latin typeface="Arial"/>
                <a:cs typeface="Arial"/>
              </a:rPr>
              <a:t>Usuario </a:t>
            </a:r>
            <a:endParaRPr lang="es-ES">
              <a:latin typeface="Arial"/>
              <a:cs typeface="Arial"/>
            </a:endParaRP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s-ES" sz="2400" dirty="0">
                <a:latin typeface="Arial"/>
                <a:cs typeface="Arial"/>
              </a:rPr>
              <a:t>Categoría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s-ES" sz="2400" dirty="0">
                <a:latin typeface="Arial"/>
                <a:cs typeface="Arial"/>
              </a:rPr>
              <a:t>Artículo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s-ES" sz="2400" dirty="0">
                <a:latin typeface="Arial"/>
                <a:cs typeface="Arial"/>
              </a:rPr>
              <a:t>Gestión completa de contenido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074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3576378-31CA-E6C6-E74F-7491A7098D54}"/>
              </a:ext>
            </a:extLst>
          </p:cNvPr>
          <p:cNvCxnSpPr/>
          <p:nvPr/>
        </p:nvCxnSpPr>
        <p:spPr>
          <a:xfrm flipV="1">
            <a:off x="3290560" y="899674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545E596D-3ED4-6279-F715-0F1A752BE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190" y="1187705"/>
            <a:ext cx="7062340" cy="416086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rgbClr val="000000"/>
                </a:solidFill>
                <a:latin typeface="Arial"/>
                <a:cs typeface="Arial"/>
              </a:rPr>
              <a:t>Arquitectura MVC</a:t>
            </a:r>
            <a:endParaRPr lang="es-ES" dirty="0">
              <a:latin typeface="Arial"/>
              <a:cs typeface="Arial"/>
            </a:endParaRPr>
          </a:p>
          <a:p>
            <a:endParaRPr lang="es-ES" dirty="0">
              <a:latin typeface="Arial"/>
              <a:cs typeface="Arial"/>
            </a:endParaRPr>
          </a:p>
          <a:p>
            <a:endParaRPr lang="es-ES" sz="3600" b="1" dirty="0">
              <a:latin typeface="Arial"/>
              <a:cs typeface="Arial"/>
            </a:endParaRPr>
          </a:p>
          <a:p>
            <a:endParaRPr lang="es-ES" dirty="0">
              <a:latin typeface="Arial"/>
              <a:cs typeface="Arial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9A589A-1793-91BE-14BE-2B579B5107ED}"/>
              </a:ext>
            </a:extLst>
          </p:cNvPr>
          <p:cNvSpPr txBox="1"/>
          <p:nvPr/>
        </p:nvSpPr>
        <p:spPr>
          <a:xfrm>
            <a:off x="704141" y="1711519"/>
            <a:ext cx="2002136" cy="2478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457200" algn="ctr">
              <a:lnSpc>
                <a:spcPct val="150000"/>
              </a:lnSpc>
            </a:pPr>
            <a:r>
              <a:rPr lang="es-ES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MODELOS</a:t>
            </a:r>
            <a:endParaRPr lang="es-ES" dirty="0">
              <a:latin typeface="Arial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s-ES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UsuarioModel</a:t>
            </a:r>
            <a:endParaRPr lang="es-ES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s-ES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ArticuloModel</a:t>
            </a:r>
            <a:endParaRPr lang="es-ES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s-ES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CategoriaModel</a:t>
            </a:r>
            <a:endParaRPr lang="es-ES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s-ES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ContactoModel</a:t>
            </a:r>
            <a:endParaRPr lang="es-ES" err="1">
              <a:latin typeface="Arial"/>
              <a:cs typeface="Arial"/>
            </a:endParaRPr>
          </a:p>
          <a:p>
            <a:pPr indent="-457200">
              <a:lnSpc>
                <a:spcPct val="150000"/>
              </a:lnSpc>
            </a:pPr>
            <a:endParaRPr lang="es-ES" sz="1100" dirty="0">
              <a:latin typeface="Arial"/>
              <a:ea typeface="+mn-lt"/>
              <a:cs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D047B9-BF2C-64DE-1198-874990CE47F4}"/>
              </a:ext>
            </a:extLst>
          </p:cNvPr>
          <p:cNvSpPr txBox="1"/>
          <p:nvPr/>
        </p:nvSpPr>
        <p:spPr>
          <a:xfrm>
            <a:off x="3910291" y="1717984"/>
            <a:ext cx="3008549" cy="23923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indent="-457200" algn="ctr">
              <a:lnSpc>
                <a:spcPct val="150000"/>
              </a:lnSpc>
            </a:pPr>
            <a:r>
              <a:rPr lang="es-ES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         CONTROLADORES</a:t>
            </a:r>
            <a:endParaRPr lang="es-ES" dirty="0">
              <a:latin typeface="Arial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   Home</a:t>
            </a: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    Usuario</a:t>
            </a: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     Contacto</a:t>
            </a: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    </a:t>
            </a:r>
            <a:r>
              <a:rPr lang="es-ES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Admin</a:t>
            </a:r>
            <a:endParaRPr lang="es-ES" dirty="0" err="1">
              <a:latin typeface="Arial"/>
              <a:cs typeface="Arial"/>
            </a:endParaRPr>
          </a:p>
          <a:p>
            <a:pPr indent="-457200">
              <a:lnSpc>
                <a:spcPct val="150000"/>
              </a:lnSpc>
            </a:pPr>
            <a:endParaRPr lang="es-ES" sz="1100" dirty="0">
              <a:latin typeface="Arial"/>
              <a:ea typeface="+mn-lt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07682E-85F5-0033-9EDE-B3975EE41128}"/>
              </a:ext>
            </a:extLst>
          </p:cNvPr>
          <p:cNvSpPr txBox="1"/>
          <p:nvPr/>
        </p:nvSpPr>
        <p:spPr>
          <a:xfrm>
            <a:off x="8439159" y="1380840"/>
            <a:ext cx="3569265" cy="48853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457200" algn="ctr">
              <a:lnSpc>
                <a:spcPct val="150000"/>
              </a:lnSpc>
            </a:pPr>
            <a:r>
              <a:rPr lang="es-ES" b="1" dirty="0">
                <a:latin typeface="Arial"/>
                <a:cs typeface="Arial"/>
              </a:rPr>
              <a:t>    VISTAS</a:t>
            </a:r>
            <a:endParaRPr lang="es-ES" dirty="0">
              <a:latin typeface="Arial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     </a:t>
            </a:r>
            <a:r>
              <a:rPr lang="es-ES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Layout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/</a:t>
            </a:r>
            <a:r>
              <a:rPr lang="es-ES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main.php</a:t>
            </a:r>
            <a:endParaRPr lang="es-ES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     Home/</a:t>
            </a:r>
            <a:r>
              <a:rPr lang="es-ES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index.php</a:t>
            </a:r>
            <a:endParaRPr lang="es-ES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     Home/</a:t>
            </a:r>
            <a:r>
              <a:rPr lang="es-ES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seccion.php</a:t>
            </a:r>
            <a:endParaRPr lang="es-ES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     Home/</a:t>
            </a:r>
            <a:r>
              <a:rPr lang="es-ES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articulo.php</a:t>
            </a:r>
            <a:endParaRPr lang="es-ES" err="1">
              <a:latin typeface="Arial"/>
              <a:cs typeface="Arial"/>
            </a:endParaRPr>
          </a:p>
          <a:p>
            <a:pPr indent="-457200" algn="ctr">
              <a:lnSpc>
                <a:spcPct val="150000"/>
              </a:lnSpc>
            </a:pPr>
            <a:r>
              <a:rPr lang="es-ES" dirty="0">
                <a:latin typeface="Arial"/>
                <a:ea typeface="+mn-lt"/>
                <a:cs typeface="Arial"/>
              </a:rPr>
              <a:t> Home/</a:t>
            </a:r>
            <a:r>
              <a:rPr lang="es-ES" dirty="0" err="1">
                <a:latin typeface="Arial"/>
                <a:ea typeface="+mn-lt"/>
                <a:cs typeface="Arial"/>
              </a:rPr>
              <a:t>busquedad.php</a:t>
            </a:r>
          </a:p>
          <a:p>
            <a:pPr indent="-457200" algn="ctr">
              <a:lnSpc>
                <a:spcPct val="150000"/>
              </a:lnSpc>
            </a:pPr>
            <a:r>
              <a:rPr lang="es-ES" dirty="0">
                <a:latin typeface="Arial"/>
                <a:ea typeface="+mn-lt"/>
                <a:cs typeface="Arial"/>
              </a:rPr>
              <a:t>      Usuario/</a:t>
            </a:r>
            <a:r>
              <a:rPr lang="es-ES" dirty="0" err="1">
                <a:latin typeface="Arial"/>
                <a:ea typeface="+mn-lt"/>
                <a:cs typeface="Arial"/>
              </a:rPr>
              <a:t>Login.php</a:t>
            </a:r>
          </a:p>
          <a:p>
            <a:pPr indent="-457200" algn="ctr">
              <a:lnSpc>
                <a:spcPct val="150000"/>
              </a:lnSpc>
            </a:pPr>
            <a:r>
              <a:rPr lang="es-ES" dirty="0">
                <a:latin typeface="Arial"/>
                <a:ea typeface="+mn-lt"/>
                <a:cs typeface="Arial"/>
              </a:rPr>
              <a:t>Usuario/Registro</a:t>
            </a:r>
          </a:p>
          <a:p>
            <a:pPr indent="-457200" algn="ctr">
              <a:lnSpc>
                <a:spcPct val="150000"/>
              </a:lnSpc>
            </a:pPr>
            <a:r>
              <a:rPr lang="es-ES" dirty="0">
                <a:latin typeface="Arial"/>
                <a:ea typeface="+mn-lt"/>
                <a:cs typeface="Arial"/>
              </a:rPr>
              <a:t>Usuario/perfil</a:t>
            </a:r>
          </a:p>
          <a:p>
            <a:pPr indent="-457200" algn="ctr">
              <a:lnSpc>
                <a:spcPct val="150000"/>
              </a:lnSpc>
            </a:pPr>
            <a:r>
              <a:rPr lang="es-ES" dirty="0">
                <a:latin typeface="Arial"/>
                <a:ea typeface="+mn-lt"/>
                <a:cs typeface="Arial"/>
              </a:rPr>
              <a:t>Contacto/</a:t>
            </a:r>
            <a:r>
              <a:rPr lang="es-ES" dirty="0" err="1">
                <a:latin typeface="Arial"/>
                <a:ea typeface="+mn-lt"/>
                <a:cs typeface="Arial"/>
              </a:rPr>
              <a:t>index</a:t>
            </a:r>
          </a:p>
          <a:p>
            <a:pPr indent="-457200" algn="ctr">
              <a:lnSpc>
                <a:spcPct val="150000"/>
              </a:lnSpc>
            </a:pPr>
            <a:r>
              <a:rPr lang="es-ES" dirty="0" err="1">
                <a:latin typeface="Arial"/>
                <a:ea typeface="+mn-lt"/>
                <a:cs typeface="Arial"/>
              </a:rPr>
              <a:t>Admin</a:t>
            </a:r>
            <a:r>
              <a:rPr lang="es-ES" dirty="0">
                <a:latin typeface="Arial"/>
                <a:ea typeface="+mn-lt"/>
                <a:cs typeface="Arial"/>
              </a:rPr>
              <a:t>/</a:t>
            </a:r>
            <a:r>
              <a:rPr lang="es-ES" dirty="0" err="1">
                <a:latin typeface="Arial"/>
                <a:ea typeface="+mn-lt"/>
                <a:cs typeface="Arial"/>
              </a:rPr>
              <a:t>dashboard</a:t>
            </a:r>
          </a:p>
          <a:p>
            <a:pPr indent="-457200">
              <a:lnSpc>
                <a:spcPct val="150000"/>
              </a:lnSpc>
            </a:pPr>
            <a:endParaRPr lang="es-ES" sz="1100" dirty="0">
              <a:latin typeface="Arial"/>
              <a:ea typeface="+mn-lt"/>
              <a:cs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D0A298-CA0A-D2D3-8311-3B6848B22FFD}"/>
              </a:ext>
            </a:extLst>
          </p:cNvPr>
          <p:cNvSpPr/>
          <p:nvPr/>
        </p:nvSpPr>
        <p:spPr>
          <a:xfrm>
            <a:off x="273907" y="1395709"/>
            <a:ext cx="2852615" cy="35169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5683462-E938-4588-20C7-DB9FF6F69341}"/>
              </a:ext>
            </a:extLst>
          </p:cNvPr>
          <p:cNvSpPr/>
          <p:nvPr/>
        </p:nvSpPr>
        <p:spPr>
          <a:xfrm>
            <a:off x="4285189" y="1395708"/>
            <a:ext cx="2852615" cy="35169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8232C7-30F5-16C1-0511-73442AC1CB4F}"/>
              </a:ext>
            </a:extLst>
          </p:cNvPr>
          <p:cNvSpPr/>
          <p:nvPr/>
        </p:nvSpPr>
        <p:spPr>
          <a:xfrm>
            <a:off x="8929075" y="1395707"/>
            <a:ext cx="2852615" cy="4868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F598FA6A-1A5D-9B70-46B3-3C8103EAE1F1}"/>
              </a:ext>
            </a:extLst>
          </p:cNvPr>
          <p:cNvCxnSpPr/>
          <p:nvPr/>
        </p:nvCxnSpPr>
        <p:spPr>
          <a:xfrm flipV="1">
            <a:off x="7463692" y="2279364"/>
            <a:ext cx="951116" cy="2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23C8CD3-D012-F465-A060-C76DA6549FE9}"/>
              </a:ext>
            </a:extLst>
          </p:cNvPr>
          <p:cNvCxnSpPr>
            <a:cxnSpLocks/>
          </p:cNvCxnSpPr>
          <p:nvPr/>
        </p:nvCxnSpPr>
        <p:spPr>
          <a:xfrm flipV="1">
            <a:off x="7492446" y="2710684"/>
            <a:ext cx="951116" cy="2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5E63390-5453-5FD0-D544-65C2710F9594}"/>
              </a:ext>
            </a:extLst>
          </p:cNvPr>
          <p:cNvCxnSpPr>
            <a:cxnSpLocks/>
          </p:cNvCxnSpPr>
          <p:nvPr/>
        </p:nvCxnSpPr>
        <p:spPr>
          <a:xfrm flipV="1">
            <a:off x="7463691" y="3156382"/>
            <a:ext cx="951116" cy="2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F047780-FAC6-FA58-F2A9-E1859A1D4A2B}"/>
              </a:ext>
            </a:extLst>
          </p:cNvPr>
          <p:cNvCxnSpPr>
            <a:cxnSpLocks/>
          </p:cNvCxnSpPr>
          <p:nvPr/>
        </p:nvCxnSpPr>
        <p:spPr>
          <a:xfrm flipV="1">
            <a:off x="7492445" y="3688344"/>
            <a:ext cx="951116" cy="2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814D84C-6028-3CDA-322E-C1D363B3FBB9}"/>
              </a:ext>
            </a:extLst>
          </p:cNvPr>
          <p:cNvCxnSpPr/>
          <p:nvPr/>
        </p:nvCxnSpPr>
        <p:spPr>
          <a:xfrm flipH="1" flipV="1">
            <a:off x="3346238" y="2424611"/>
            <a:ext cx="817297" cy="92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311E384-B6B1-64DC-EB4C-9031A5C47195}"/>
              </a:ext>
            </a:extLst>
          </p:cNvPr>
          <p:cNvCxnSpPr>
            <a:cxnSpLocks/>
          </p:cNvCxnSpPr>
          <p:nvPr/>
        </p:nvCxnSpPr>
        <p:spPr>
          <a:xfrm flipH="1" flipV="1">
            <a:off x="3346237" y="2712158"/>
            <a:ext cx="817297" cy="92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8E7260A-7C65-34AC-431E-3688151521D6}"/>
              </a:ext>
            </a:extLst>
          </p:cNvPr>
          <p:cNvCxnSpPr>
            <a:cxnSpLocks/>
          </p:cNvCxnSpPr>
          <p:nvPr/>
        </p:nvCxnSpPr>
        <p:spPr>
          <a:xfrm flipH="1" flipV="1">
            <a:off x="3346238" y="3157856"/>
            <a:ext cx="817297" cy="92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C7463C6-2327-B10A-2603-4BA3ACE479BF}"/>
              </a:ext>
            </a:extLst>
          </p:cNvPr>
          <p:cNvCxnSpPr>
            <a:cxnSpLocks/>
          </p:cNvCxnSpPr>
          <p:nvPr/>
        </p:nvCxnSpPr>
        <p:spPr>
          <a:xfrm flipH="1" flipV="1">
            <a:off x="3346237" y="3617931"/>
            <a:ext cx="817297" cy="92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1057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9084CB9-1545-69B9-A67D-E6FC9BCFC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15" y="363168"/>
            <a:ext cx="7977037" cy="11829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endParaRPr lang="en-US" sz="1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br>
              <a:rPr lang="en-US" sz="1800" kern="1200" dirty="0">
                <a:latin typeface="+mj-lt"/>
              </a:rPr>
            </a:br>
            <a:endParaRPr lang="en-US" sz="2600" b="1" kern="1200" dirty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Diagrama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de </a:t>
            </a:r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clases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parte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1)</a:t>
            </a:r>
          </a:p>
          <a:p>
            <a:endParaRPr lang="en-US" sz="2600" b="1" dirty="0">
              <a:solidFill>
                <a:schemeClr val="tx1"/>
              </a:solidFill>
              <a:latin typeface="Arial"/>
              <a:ea typeface="+mj-lt"/>
              <a:cs typeface="+mj-lt"/>
            </a:endParaRPr>
          </a:p>
          <a:p>
            <a:endParaRPr lang="en-US" sz="1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BF0F174-7D54-CFCF-94EC-D1AF7F5A0153}"/>
              </a:ext>
            </a:extLst>
          </p:cNvPr>
          <p:cNvCxnSpPr/>
          <p:nvPr/>
        </p:nvCxnSpPr>
        <p:spPr>
          <a:xfrm flipV="1">
            <a:off x="3298262" y="1030540"/>
            <a:ext cx="6002739" cy="648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Pantalla de computadora con letras&#10;&#10;El contenido generado por IA puede ser incorrecto.">
            <a:extLst>
              <a:ext uri="{FF2B5EF4-FFF2-40B4-BE49-F238E27FC236}">
                <a16:creationId xmlns:a16="http://schemas.microsoft.com/office/drawing/2014/main" id="{C1F2BBC1-1BE6-E6F5-BF4E-F1306B29E3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63" t="26978" r="22638" b="18449"/>
          <a:stretch>
            <a:fillRect/>
          </a:stretch>
        </p:blipFill>
        <p:spPr>
          <a:xfrm>
            <a:off x="133107" y="2133056"/>
            <a:ext cx="5822448" cy="3742619"/>
          </a:xfrm>
          <a:prstGeom prst="rect">
            <a:avLst/>
          </a:prstGeom>
        </p:spPr>
      </p:pic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D50F71FE-0037-521E-5D7A-F507080849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76" t="27592" r="13977" b="19634"/>
          <a:stretch>
            <a:fillRect/>
          </a:stretch>
        </p:blipFill>
        <p:spPr>
          <a:xfrm>
            <a:off x="6022496" y="2238271"/>
            <a:ext cx="6174299" cy="35589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6808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6CDC6-210B-89FF-4C03-9C1CE129C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FB4472F-DFC0-D583-7664-C292E04BA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15" y="363168"/>
            <a:ext cx="7977037" cy="11829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endParaRPr lang="en-US" sz="1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br>
              <a:rPr lang="en-US" sz="1800" kern="1200" dirty="0">
                <a:latin typeface="+mj-lt"/>
              </a:rPr>
            </a:br>
            <a:endParaRPr lang="en-US" sz="2600" b="1" kern="1200" dirty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Diagrama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de </a:t>
            </a:r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clases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parte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2)</a:t>
            </a:r>
          </a:p>
          <a:p>
            <a:endParaRPr lang="en-US" sz="2600" b="1" dirty="0">
              <a:solidFill>
                <a:schemeClr val="tx1"/>
              </a:solidFill>
              <a:latin typeface="Arial"/>
              <a:ea typeface="+mj-lt"/>
              <a:cs typeface="+mj-lt"/>
            </a:endParaRPr>
          </a:p>
          <a:p>
            <a:endParaRPr lang="en-US" sz="1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BCCE1E7-7E89-A08C-4E07-CC0139412903}"/>
              </a:ext>
            </a:extLst>
          </p:cNvPr>
          <p:cNvCxnSpPr/>
          <p:nvPr/>
        </p:nvCxnSpPr>
        <p:spPr>
          <a:xfrm flipV="1">
            <a:off x="3298262" y="1030540"/>
            <a:ext cx="6002739" cy="648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6241313-0F2E-C693-71FF-5BC7FA356D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63" t="22327" r="18799" b="13596"/>
          <a:stretch>
            <a:fillRect/>
          </a:stretch>
        </p:blipFill>
        <p:spPr>
          <a:xfrm>
            <a:off x="478312" y="1546273"/>
            <a:ext cx="5271378" cy="4394341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CC4CD8A2-83CF-04A9-6AB1-F74C805500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89" t="27660" r="14771" b="20434"/>
          <a:stretch>
            <a:fillRect/>
          </a:stretch>
        </p:blipFill>
        <p:spPr>
          <a:xfrm>
            <a:off x="5948773" y="2012471"/>
            <a:ext cx="6022281" cy="35004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4043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4952D-C6F1-F3E2-1911-8A8F2B02C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400" y="5929"/>
            <a:ext cx="6595983" cy="1485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dirty="0" err="1">
                <a:latin typeface="Arial"/>
                <a:cs typeface="Arial"/>
              </a:rPr>
              <a:t>Estructura</a:t>
            </a:r>
            <a:r>
              <a:rPr lang="en-US" b="1" dirty="0">
                <a:latin typeface="Arial"/>
                <a:cs typeface="Arial"/>
              </a:rPr>
              <a:t> de </a:t>
            </a:r>
            <a:r>
              <a:rPr lang="en-US" b="1" dirty="0" err="1">
                <a:latin typeface="Arial"/>
                <a:cs typeface="Arial"/>
              </a:rPr>
              <a:t>carpetas</a:t>
            </a:r>
            <a:endParaRPr lang="es-ES" dirty="0" err="1"/>
          </a:p>
          <a:p>
            <a:pPr algn="ctr"/>
            <a:endParaRPr lang="en-US" b="1" dirty="0">
              <a:latin typeface="Arial"/>
              <a:cs typeface="Arial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B7AFDD-65B3-09CA-F169-752572A2B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3560" y="2300830"/>
            <a:ext cx="4353116" cy="377043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800" b="1" dirty="0">
              <a:latin typeface="Arial"/>
              <a:ea typeface="+mn-lt"/>
              <a:cs typeface="+mn-lt"/>
            </a:endParaRPr>
          </a:p>
          <a:p>
            <a:pPr indent="-457200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5847D0D-1B83-BDDD-E73E-89FF60AC0248}"/>
              </a:ext>
            </a:extLst>
          </p:cNvPr>
          <p:cNvCxnSpPr/>
          <p:nvPr/>
        </p:nvCxnSpPr>
        <p:spPr>
          <a:xfrm flipV="1">
            <a:off x="3049540" y="1073488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356D0A1C-A606-C4A3-7397-D66349A18A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77" t="5680" r="2376" b="10409"/>
          <a:stretch>
            <a:fillRect/>
          </a:stretch>
        </p:blipFill>
        <p:spPr>
          <a:xfrm>
            <a:off x="2666999" y="1402929"/>
            <a:ext cx="6283555" cy="47755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150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7A120-985F-805A-3AEA-A510B6B2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069" y="572347"/>
            <a:ext cx="4852035" cy="7177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 dirty="0" err="1">
                <a:solidFill>
                  <a:srgbClr val="000000"/>
                </a:solidFill>
                <a:latin typeface="Arial"/>
                <a:cs typeface="Arial"/>
              </a:rPr>
              <a:t>Formularios</a:t>
            </a:r>
            <a:r>
              <a:rPr lang="en-US" sz="22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Arial"/>
                <a:cs typeface="Arial"/>
              </a:rPr>
              <a:t>implementados</a:t>
            </a:r>
            <a:endParaRPr lang="es-ES" dirty="0" err="1">
              <a:latin typeface="Arial"/>
              <a:cs typeface="Arial"/>
            </a:endParaRPr>
          </a:p>
          <a:p>
            <a:endParaRPr lang="en-US" sz="2000" b="1" dirty="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B7671-563D-10D7-0B91-AE4AB9E0E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7740" y="1783680"/>
            <a:ext cx="4729442" cy="406760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Formulario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de Contacto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•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Validación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servidor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/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cliente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• Almacenamiento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en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base de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datos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• Procesamiento AJAX</a:t>
            </a:r>
            <a:endParaRPr lang="es-ES" sz="1800" b="1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r>
              <a:rPr lang="en-US" sz="1800" b="1" dirty="0" err="1">
                <a:latin typeface="Arial"/>
                <a:cs typeface="Arial"/>
              </a:rPr>
              <a:t>Formulario</a:t>
            </a:r>
            <a:r>
              <a:rPr lang="en-US" sz="1800" b="1" dirty="0">
                <a:latin typeface="Arial"/>
                <a:cs typeface="Arial"/>
              </a:rPr>
              <a:t> de </a:t>
            </a:r>
            <a:r>
              <a:rPr lang="en-US" sz="1800" b="1" dirty="0" err="1">
                <a:latin typeface="Arial"/>
                <a:cs typeface="Arial"/>
              </a:rPr>
              <a:t>Registro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cs typeface="Arial"/>
              </a:rPr>
              <a:t> • </a:t>
            </a:r>
            <a:r>
              <a:rPr lang="en-US" sz="1800" b="1" dirty="0" err="1">
                <a:latin typeface="Arial"/>
                <a:cs typeface="Arial"/>
              </a:rPr>
              <a:t>Validación</a:t>
            </a:r>
            <a:r>
              <a:rPr lang="en-US" sz="1800" b="1" dirty="0">
                <a:latin typeface="Arial"/>
                <a:cs typeface="Arial"/>
              </a:rPr>
              <a:t> de email </a:t>
            </a:r>
            <a:r>
              <a:rPr lang="en-US" sz="1800" b="1" dirty="0" err="1">
                <a:latin typeface="Arial"/>
                <a:cs typeface="Arial"/>
              </a:rPr>
              <a:t>único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cs typeface="Arial"/>
              </a:rPr>
              <a:t> • Hash de </a:t>
            </a:r>
            <a:r>
              <a:rPr lang="en-US" sz="1800" b="1" dirty="0" err="1">
                <a:latin typeface="Arial"/>
                <a:cs typeface="Arial"/>
              </a:rPr>
              <a:t>contraseñas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cs typeface="Arial"/>
              </a:rPr>
              <a:t> • </a:t>
            </a:r>
            <a:r>
              <a:rPr lang="en-US" sz="1800" b="1" dirty="0" err="1">
                <a:latin typeface="Arial"/>
                <a:cs typeface="Arial"/>
              </a:rPr>
              <a:t>Términos</a:t>
            </a:r>
            <a:r>
              <a:rPr lang="en-US" sz="1800" b="1" dirty="0">
                <a:latin typeface="Arial"/>
                <a:cs typeface="Arial"/>
              </a:rPr>
              <a:t> y </a:t>
            </a:r>
            <a:r>
              <a:rPr lang="en-US" sz="1800" b="1" dirty="0" err="1">
                <a:latin typeface="Arial"/>
                <a:cs typeface="Arial"/>
              </a:rPr>
              <a:t>condiciones</a:t>
            </a:r>
            <a:endParaRPr lang="en-US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r>
              <a:rPr lang="en-US" sz="1800" b="1" dirty="0" err="1">
                <a:latin typeface="Arial"/>
                <a:cs typeface="Arial"/>
              </a:rPr>
              <a:t>Formulario</a:t>
            </a:r>
            <a:r>
              <a:rPr lang="en-US" sz="1800" b="1" dirty="0">
                <a:latin typeface="Arial"/>
                <a:cs typeface="Arial"/>
              </a:rPr>
              <a:t> de Login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cs typeface="Arial"/>
              </a:rPr>
              <a:t> • </a:t>
            </a:r>
            <a:r>
              <a:rPr lang="en-US" sz="1800" b="1" dirty="0" err="1">
                <a:latin typeface="Arial"/>
                <a:cs typeface="Arial"/>
              </a:rPr>
              <a:t>Verificación</a:t>
            </a:r>
            <a:r>
              <a:rPr lang="en-US" sz="1800" b="1" dirty="0">
                <a:latin typeface="Arial"/>
                <a:cs typeface="Arial"/>
              </a:rPr>
              <a:t> de </a:t>
            </a:r>
            <a:r>
              <a:rPr lang="en-US" sz="1800" b="1" dirty="0" err="1">
                <a:latin typeface="Arial"/>
                <a:cs typeface="Arial"/>
              </a:rPr>
              <a:t>credenciales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cs typeface="Arial"/>
              </a:rPr>
              <a:t> • </a:t>
            </a:r>
            <a:r>
              <a:rPr lang="en-US" sz="1800" b="1" dirty="0" err="1">
                <a:latin typeface="Arial"/>
                <a:cs typeface="Arial"/>
              </a:rPr>
              <a:t>Gestión</a:t>
            </a:r>
            <a:r>
              <a:rPr lang="en-US" sz="1800" b="1" dirty="0">
                <a:latin typeface="Arial"/>
                <a:cs typeface="Arial"/>
              </a:rPr>
              <a:t> de </a:t>
            </a:r>
            <a:r>
              <a:rPr lang="en-US" sz="1800" b="1" dirty="0" err="1">
                <a:latin typeface="Arial"/>
                <a:cs typeface="Arial"/>
              </a:rPr>
              <a:t>sesiones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cs typeface="Arial"/>
              </a:rPr>
              <a:t> • </a:t>
            </a:r>
            <a:r>
              <a:rPr lang="en-US" sz="1800" b="1" dirty="0" err="1">
                <a:latin typeface="Arial"/>
                <a:cs typeface="Arial"/>
              </a:rPr>
              <a:t>Redirección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por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rol</a:t>
            </a:r>
            <a:endParaRPr lang="en-US"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endParaRPr lang="en-US" sz="1800" dirty="0">
              <a:latin typeface="Arial"/>
              <a:cs typeface="Arial"/>
            </a:endParaRPr>
          </a:p>
          <a:p>
            <a:endParaRPr lang="en-US" sz="1800" dirty="0">
              <a:latin typeface="Arial"/>
              <a:cs typeface="Arial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43934F1A-B9BF-5099-00E8-FC6DF78BFF7E}"/>
              </a:ext>
            </a:extLst>
          </p:cNvPr>
          <p:cNvCxnSpPr/>
          <p:nvPr/>
        </p:nvCxnSpPr>
        <p:spPr>
          <a:xfrm flipV="1">
            <a:off x="2920905" y="976090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6CD4DB70-1E8F-18AA-B932-11AC36B1DC7B}"/>
              </a:ext>
            </a:extLst>
          </p:cNvPr>
          <p:cNvSpPr/>
          <p:nvPr/>
        </p:nvSpPr>
        <p:spPr>
          <a:xfrm>
            <a:off x="2917657" y="1418724"/>
            <a:ext cx="5564605" cy="4952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0FC846B-DE8A-88F3-13A3-1712590B583D}"/>
              </a:ext>
            </a:extLst>
          </p:cNvPr>
          <p:cNvCxnSpPr/>
          <p:nvPr/>
        </p:nvCxnSpPr>
        <p:spPr>
          <a:xfrm>
            <a:off x="2917658" y="3063040"/>
            <a:ext cx="5564604" cy="1002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8639623-4DD9-0802-CE75-ADA31A9BE9FE}"/>
              </a:ext>
            </a:extLst>
          </p:cNvPr>
          <p:cNvCxnSpPr>
            <a:cxnSpLocks/>
          </p:cNvCxnSpPr>
          <p:nvPr/>
        </p:nvCxnSpPr>
        <p:spPr>
          <a:xfrm>
            <a:off x="2917658" y="4607092"/>
            <a:ext cx="5564604" cy="1002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5604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29E3B1-594B-9C29-453F-381B7392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BB35C01-8191-95A7-588C-B4A3226E1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15" y="363168"/>
            <a:ext cx="7977037" cy="11829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endParaRPr lang="en-US" sz="1800" kern="1200">
              <a:solidFill>
                <a:schemeClr val="tx1"/>
              </a:solidFill>
              <a:latin typeface="Arial"/>
              <a:cs typeface="Arial"/>
            </a:endParaRPr>
          </a:p>
          <a:p>
            <a:br>
              <a:rPr lang="en-US" sz="1800" kern="1200" dirty="0">
                <a:latin typeface="Arial"/>
                <a:cs typeface="Arial"/>
              </a:rPr>
            </a:br>
            <a:endParaRPr lang="en-US" sz="2600" b="1" kern="1200" dirty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Bases de </a:t>
            </a:r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datos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parte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1)</a:t>
            </a:r>
          </a:p>
          <a:p>
            <a:endParaRPr lang="en-US" sz="2600" b="1" dirty="0">
              <a:solidFill>
                <a:schemeClr val="tx1"/>
              </a:solidFill>
              <a:latin typeface="Arial"/>
              <a:ea typeface="+mj-lt"/>
              <a:cs typeface="Arial"/>
            </a:endParaRPr>
          </a:p>
          <a:p>
            <a:endParaRPr lang="en-US" sz="1800" kern="12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145E094-7AB1-DF0F-F068-8155D845A631}"/>
              </a:ext>
            </a:extLst>
          </p:cNvPr>
          <p:cNvCxnSpPr/>
          <p:nvPr/>
        </p:nvCxnSpPr>
        <p:spPr>
          <a:xfrm flipV="1">
            <a:off x="3298262" y="1030540"/>
            <a:ext cx="6002739" cy="648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C410114A-D425-570F-E4D5-8E88B1CC0B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50" t="24158" r="16499" b="16837"/>
          <a:stretch>
            <a:fillRect/>
          </a:stretch>
        </p:blipFill>
        <p:spPr>
          <a:xfrm>
            <a:off x="155590" y="1624263"/>
            <a:ext cx="5591413" cy="4046549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7E274AAF-56E9-8D91-DB16-871076C0D1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00" t="26574" r="17526" b="17465"/>
          <a:stretch>
            <a:fillRect/>
          </a:stretch>
        </p:blipFill>
        <p:spPr>
          <a:xfrm>
            <a:off x="5995973" y="1834815"/>
            <a:ext cx="6091140" cy="38378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2945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4B10B-FF23-2AD8-339A-D0A68613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30D7D53-0DDD-8F00-B9A0-29D7B646C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15" y="363168"/>
            <a:ext cx="7977037" cy="11829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endParaRPr lang="en-US" sz="1800" kern="1200">
              <a:solidFill>
                <a:schemeClr val="tx1"/>
              </a:solidFill>
              <a:latin typeface="Arial"/>
              <a:cs typeface="Arial"/>
            </a:endParaRPr>
          </a:p>
          <a:p>
            <a:br>
              <a:rPr lang="en-US" sz="1800" kern="1200" dirty="0">
                <a:latin typeface="Arial"/>
                <a:cs typeface="Arial"/>
              </a:rPr>
            </a:br>
            <a:endParaRPr lang="en-US" sz="2600" b="1" kern="1200" dirty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Bases de </a:t>
            </a:r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datos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en-US" sz="2600" b="1" dirty="0" err="1">
                <a:solidFill>
                  <a:srgbClr val="000000"/>
                </a:solidFill>
                <a:latin typeface="Arial"/>
                <a:cs typeface="Arial"/>
              </a:rPr>
              <a:t>parte</a:t>
            </a:r>
            <a:r>
              <a:rPr lang="en-US" sz="2600" b="1" dirty="0">
                <a:solidFill>
                  <a:srgbClr val="000000"/>
                </a:solidFill>
                <a:latin typeface="Arial"/>
                <a:cs typeface="Arial"/>
              </a:rPr>
              <a:t> 2)</a:t>
            </a:r>
          </a:p>
          <a:p>
            <a:endParaRPr lang="en-US" sz="2600" b="1" dirty="0">
              <a:solidFill>
                <a:schemeClr val="tx1"/>
              </a:solidFill>
              <a:latin typeface="Arial"/>
              <a:ea typeface="+mj-lt"/>
              <a:cs typeface="Arial"/>
            </a:endParaRPr>
          </a:p>
          <a:p>
            <a:endParaRPr lang="en-US" sz="1800" kern="12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DEC9080-9F82-150F-72C2-9917E567C8E5}"/>
              </a:ext>
            </a:extLst>
          </p:cNvPr>
          <p:cNvCxnSpPr/>
          <p:nvPr/>
        </p:nvCxnSpPr>
        <p:spPr>
          <a:xfrm flipV="1">
            <a:off x="3298262" y="1030540"/>
            <a:ext cx="6002739" cy="648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34834DED-E9CD-01D6-5E94-CE880F087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81" t="20498" r="13967" b="13177"/>
          <a:stretch>
            <a:fillRect/>
          </a:stretch>
        </p:blipFill>
        <p:spPr>
          <a:xfrm>
            <a:off x="196582" y="1544052"/>
            <a:ext cx="4961465" cy="4548575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F422AAE6-EF06-BF6D-5CAB-7EA8B726D3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49" t="25800" r="16964" b="19002"/>
          <a:stretch>
            <a:fillRect/>
          </a:stretch>
        </p:blipFill>
        <p:spPr>
          <a:xfrm>
            <a:off x="5658895" y="2306054"/>
            <a:ext cx="6057232" cy="37854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1680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7508A-2972-3D7E-C048-DF25420D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944ED-2735-1086-538A-8F38A226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069" y="635847"/>
            <a:ext cx="4852035" cy="7177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>
                <a:solidFill>
                  <a:srgbClr val="000000"/>
                </a:solidFill>
                <a:latin typeface="Arial"/>
                <a:cs typeface="Arial"/>
              </a:rPr>
              <a:t>Medidas de seguridad.</a:t>
            </a:r>
            <a:endParaRPr lang="es-ES">
              <a:latin typeface="Arial"/>
              <a:cs typeface="Arial"/>
            </a:endParaRPr>
          </a:p>
          <a:p>
            <a:endParaRPr lang="en-US" sz="2000" b="1" dirty="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B3905C-B240-3AEF-C59D-EBB27D58B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9657" y="1746917"/>
            <a:ext cx="4729442" cy="406760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Validación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de Entrada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• Todos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los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formularios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• Reglas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específicas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por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campo</a:t>
            </a:r>
            <a:endParaRPr lang="es-ES" sz="1800" b="1">
              <a:latin typeface="Arial"/>
              <a:cs typeface="Arial"/>
            </a:endParaRPr>
          </a:p>
          <a:p>
            <a:endParaRPr lang="en-US" sz="1800" b="1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endParaRPr lang="en-US" sz="1800" b="1" dirty="0">
              <a:latin typeface="Arial"/>
              <a:ea typeface="+mn-lt"/>
              <a:cs typeface="Arial"/>
            </a:endParaRPr>
          </a:p>
          <a:p>
            <a:r>
              <a:rPr lang="en-US" sz="1800" b="1" dirty="0" err="1">
                <a:latin typeface="Arial"/>
                <a:ea typeface="+mn-lt"/>
                <a:cs typeface="Arial"/>
              </a:rPr>
              <a:t>Protección</a:t>
            </a:r>
            <a:r>
              <a:rPr lang="en-US" sz="1800" b="1" dirty="0">
                <a:latin typeface="Arial"/>
                <a:ea typeface="+mn-lt"/>
                <a:cs typeface="Arial"/>
              </a:rPr>
              <a:t> de Base de Datos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Prepared statements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Hash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bcrypt</a:t>
            </a:r>
            <a:r>
              <a:rPr lang="en-US" sz="1800" b="1" dirty="0">
                <a:latin typeface="Arial"/>
                <a:ea typeface="+mn-lt"/>
                <a:cs typeface="Arial"/>
              </a:rPr>
              <a:t> de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contraseñas</a:t>
            </a:r>
            <a:endParaRPr lang="en-US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endParaRPr lang="en-US" sz="1800" b="1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endParaRPr lang="en-US" sz="1800" b="1" dirty="0">
              <a:latin typeface="Arial"/>
              <a:ea typeface="+mn-lt"/>
              <a:cs typeface="Arial"/>
            </a:endParaRPr>
          </a:p>
          <a:p>
            <a:r>
              <a:rPr lang="en-US" sz="1800" b="1" dirty="0" err="1">
                <a:latin typeface="Arial"/>
                <a:ea typeface="+mn-lt"/>
                <a:cs typeface="Arial"/>
              </a:rPr>
              <a:t>Autenticación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Filtros</a:t>
            </a:r>
            <a:r>
              <a:rPr lang="en-US" sz="1800" b="1" dirty="0">
                <a:latin typeface="Arial"/>
                <a:ea typeface="+mn-lt"/>
                <a:cs typeface="Arial"/>
              </a:rPr>
              <a:t> de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rutas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Gestión</a:t>
            </a:r>
            <a:r>
              <a:rPr lang="en-US" sz="1800" b="1" dirty="0">
                <a:latin typeface="Arial"/>
                <a:ea typeface="+mn-lt"/>
                <a:cs typeface="Arial"/>
              </a:rPr>
              <a:t> de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sesiones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Roles de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usuario</a:t>
            </a:r>
            <a:endParaRPr lang="en-US" dirty="0" err="1"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endParaRPr lang="en-US" sz="1800" dirty="0">
              <a:latin typeface="Arial"/>
              <a:cs typeface="Arial"/>
            </a:endParaRPr>
          </a:p>
          <a:p>
            <a:endParaRPr lang="en-US" sz="1800" dirty="0">
              <a:latin typeface="Arial"/>
              <a:cs typeface="Arial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AEA0508-7575-3977-0F2F-1B2777428CCC}"/>
              </a:ext>
            </a:extLst>
          </p:cNvPr>
          <p:cNvCxnSpPr/>
          <p:nvPr/>
        </p:nvCxnSpPr>
        <p:spPr>
          <a:xfrm flipV="1">
            <a:off x="2655764" y="1050173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07384777-0219-F8CC-EDE2-AB7E0427D66F}"/>
              </a:ext>
            </a:extLst>
          </p:cNvPr>
          <p:cNvSpPr/>
          <p:nvPr/>
        </p:nvSpPr>
        <p:spPr>
          <a:xfrm>
            <a:off x="2589574" y="1482224"/>
            <a:ext cx="5564605" cy="4952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9C6A1BAF-7B40-0E7D-55AC-CAE2F0F8AA37}"/>
              </a:ext>
            </a:extLst>
          </p:cNvPr>
          <p:cNvCxnSpPr/>
          <p:nvPr/>
        </p:nvCxnSpPr>
        <p:spPr>
          <a:xfrm>
            <a:off x="2589575" y="3126540"/>
            <a:ext cx="5564604" cy="1002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FB3E701-03FE-2114-9CC9-7B5140A5B60C}"/>
              </a:ext>
            </a:extLst>
          </p:cNvPr>
          <p:cNvCxnSpPr>
            <a:cxnSpLocks/>
          </p:cNvCxnSpPr>
          <p:nvPr/>
        </p:nvCxnSpPr>
        <p:spPr>
          <a:xfrm>
            <a:off x="2589575" y="4670592"/>
            <a:ext cx="5564604" cy="1002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17828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02679-1434-D0CC-CED5-1D91EB89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29829-313F-CE95-1BAE-B06AA92B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014" y="1017282"/>
            <a:ext cx="4852035" cy="7177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 dirty="0" err="1">
                <a:solidFill>
                  <a:srgbClr val="000000"/>
                </a:solidFill>
                <a:latin typeface="Arial"/>
                <a:cs typeface="Arial"/>
              </a:rPr>
              <a:t>Acesso</a:t>
            </a:r>
            <a:r>
              <a:rPr lang="en-US" sz="2200" b="1" dirty="0">
                <a:solidFill>
                  <a:srgbClr val="000000"/>
                </a:solidFill>
                <a:latin typeface="Arial"/>
                <a:cs typeface="Arial"/>
              </a:rPr>
              <a:t> al sitio</a:t>
            </a:r>
            <a:endParaRPr lang="es-ES" dirty="0"/>
          </a:p>
          <a:p>
            <a:endParaRPr lang="en-US" sz="2000" b="1" dirty="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714276-81E8-E809-D297-1F03B06C8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0918" y="2128352"/>
            <a:ext cx="4729442" cy="45686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b="1" err="1">
                <a:latin typeface="Arial"/>
                <a:ea typeface="+mn-lt"/>
                <a:cs typeface="+mn-lt"/>
              </a:rPr>
              <a:t>Usuario</a:t>
            </a:r>
            <a:r>
              <a:rPr lang="en-US" sz="1800" b="1" dirty="0">
                <a:latin typeface="Arial"/>
                <a:ea typeface="+mn-lt"/>
                <a:cs typeface="+mn-lt"/>
              </a:rPr>
              <a:t> </a:t>
            </a:r>
            <a:r>
              <a:rPr lang="en-US" sz="1800" b="1" err="1">
                <a:latin typeface="Arial"/>
                <a:ea typeface="+mn-lt"/>
                <a:cs typeface="+mn-lt"/>
              </a:rPr>
              <a:t>Administrador</a:t>
            </a:r>
            <a:endParaRPr lang="es-ES" sz="1800" b="1" err="1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ea typeface="+mn-lt"/>
                <a:cs typeface="+mn-lt"/>
              </a:rPr>
              <a:t>Email: </a:t>
            </a:r>
            <a:r>
              <a:rPr lang="en-US" sz="1800" dirty="0">
                <a:latin typeface="Arial"/>
                <a:ea typeface="+mn-lt"/>
                <a:cs typeface="+mn-lt"/>
                <a:hlinkClick r:id="rId3"/>
              </a:rPr>
              <a:t>admin@elfaro.cl</a:t>
            </a:r>
            <a:endParaRPr lang="en-US">
              <a:latin typeface="Arial"/>
              <a:cs typeface="Arial"/>
            </a:endParaRPr>
          </a:p>
          <a:p>
            <a:r>
              <a:rPr lang="en-US" sz="1800" err="1">
                <a:latin typeface="Arial"/>
                <a:ea typeface="+mn-lt"/>
                <a:cs typeface="+mn-lt"/>
              </a:rPr>
              <a:t>Contraseña</a:t>
            </a:r>
            <a:r>
              <a:rPr lang="en-US" sz="1800" dirty="0">
                <a:latin typeface="Arial"/>
                <a:ea typeface="+mn-lt"/>
                <a:cs typeface="+mn-lt"/>
              </a:rPr>
              <a:t>: admin123</a:t>
            </a:r>
            <a:endParaRPr lang="en-US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1800" dirty="0">
              <a:latin typeface="Arial"/>
              <a:ea typeface="+mn-lt"/>
              <a:cs typeface="+mn-lt"/>
            </a:endParaRPr>
          </a:p>
          <a:p>
            <a:r>
              <a:rPr lang="en-US" sz="1800" b="1" dirty="0" err="1">
                <a:latin typeface="Arial"/>
                <a:ea typeface="+mn-lt"/>
                <a:cs typeface="+mn-lt"/>
              </a:rPr>
              <a:t>Funcionalidades</a:t>
            </a:r>
            <a:r>
              <a:rPr lang="en-US" sz="1800" b="1" dirty="0">
                <a:latin typeface="Arial"/>
                <a:ea typeface="+mn-lt"/>
                <a:cs typeface="+mn-lt"/>
              </a:rPr>
              <a:t> </a:t>
            </a:r>
            <a:r>
              <a:rPr lang="en-US" sz="1800" b="1" dirty="0" err="1">
                <a:latin typeface="Arial"/>
                <a:ea typeface="+mn-lt"/>
                <a:cs typeface="+mn-lt"/>
              </a:rPr>
              <a:t>Disponibles</a:t>
            </a:r>
            <a:endParaRPr lang="en-US" dirty="0" err="1">
              <a:latin typeface="Arial"/>
              <a:cs typeface="Arial"/>
            </a:endParaRPr>
          </a:p>
          <a:p>
            <a:r>
              <a:rPr lang="en-US" sz="1800" err="1">
                <a:latin typeface="Arial"/>
                <a:ea typeface="+mn-lt"/>
                <a:cs typeface="+mn-lt"/>
              </a:rPr>
              <a:t>Navegación</a:t>
            </a:r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pública</a:t>
            </a:r>
            <a:r>
              <a:rPr lang="en-US" sz="1800" dirty="0">
                <a:latin typeface="Arial"/>
                <a:ea typeface="+mn-lt"/>
                <a:cs typeface="+mn-lt"/>
              </a:rPr>
              <a:t> (</a:t>
            </a:r>
            <a:r>
              <a:rPr lang="en-US" sz="1800" err="1">
                <a:latin typeface="Arial"/>
                <a:ea typeface="+mn-lt"/>
                <a:cs typeface="+mn-lt"/>
              </a:rPr>
              <a:t>visitantes</a:t>
            </a:r>
            <a:r>
              <a:rPr lang="en-US" sz="1800" dirty="0">
                <a:latin typeface="Arial"/>
                <a:ea typeface="+mn-lt"/>
                <a:cs typeface="+mn-lt"/>
              </a:rPr>
              <a:t>)</a:t>
            </a:r>
            <a:endParaRPr lang="en-US" dirty="0">
              <a:latin typeface="Arial"/>
              <a:cs typeface="Arial"/>
            </a:endParaRPr>
          </a:p>
          <a:p>
            <a:r>
              <a:rPr lang="en-US" sz="1800" err="1">
                <a:latin typeface="Arial"/>
                <a:ea typeface="+mn-lt"/>
                <a:cs typeface="+mn-lt"/>
              </a:rPr>
              <a:t>Registro</a:t>
            </a:r>
            <a:r>
              <a:rPr lang="en-US" sz="1800" dirty="0">
                <a:latin typeface="Arial"/>
                <a:ea typeface="+mn-lt"/>
                <a:cs typeface="+mn-lt"/>
              </a:rPr>
              <a:t> e </a:t>
            </a:r>
            <a:r>
              <a:rPr lang="en-US" sz="1800" err="1">
                <a:latin typeface="Arial"/>
                <a:ea typeface="+mn-lt"/>
                <a:cs typeface="+mn-lt"/>
              </a:rPr>
              <a:t>inicio</a:t>
            </a:r>
            <a:r>
              <a:rPr lang="en-US" sz="1800" dirty="0">
                <a:latin typeface="Arial"/>
                <a:ea typeface="+mn-lt"/>
                <a:cs typeface="+mn-lt"/>
              </a:rPr>
              <a:t> de </a:t>
            </a:r>
            <a:r>
              <a:rPr lang="en-US" sz="1800" err="1">
                <a:latin typeface="Arial"/>
                <a:ea typeface="+mn-lt"/>
                <a:cs typeface="+mn-lt"/>
              </a:rPr>
              <a:t>sesión</a:t>
            </a:r>
            <a:endParaRPr lang="en-US" err="1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ea typeface="+mn-lt"/>
                <a:cs typeface="+mn-lt"/>
              </a:rPr>
              <a:t>Panel </a:t>
            </a:r>
            <a:r>
              <a:rPr lang="en-US" sz="1800" err="1">
                <a:latin typeface="Arial"/>
                <a:ea typeface="+mn-lt"/>
                <a:cs typeface="+mn-lt"/>
              </a:rPr>
              <a:t>administrativo</a:t>
            </a:r>
            <a:r>
              <a:rPr lang="en-US" sz="1800" dirty="0">
                <a:latin typeface="Arial"/>
                <a:ea typeface="+mn-lt"/>
                <a:cs typeface="+mn-lt"/>
              </a:rPr>
              <a:t> (admin)</a:t>
            </a:r>
            <a:endParaRPr lang="en-US" dirty="0">
              <a:latin typeface="Arial"/>
              <a:cs typeface="Arial"/>
            </a:endParaRPr>
          </a:p>
          <a:p>
            <a:r>
              <a:rPr lang="en-US" sz="1800" err="1">
                <a:latin typeface="Arial"/>
                <a:ea typeface="+mn-lt"/>
                <a:cs typeface="+mn-lt"/>
              </a:rPr>
              <a:t>Gestión</a:t>
            </a:r>
            <a:r>
              <a:rPr lang="en-US" sz="1800" dirty="0">
                <a:latin typeface="Arial"/>
                <a:ea typeface="+mn-lt"/>
                <a:cs typeface="+mn-lt"/>
              </a:rPr>
              <a:t> </a:t>
            </a:r>
            <a:r>
              <a:rPr lang="en-US" sz="1800" err="1">
                <a:latin typeface="Arial"/>
                <a:ea typeface="+mn-lt"/>
                <a:cs typeface="+mn-lt"/>
              </a:rPr>
              <a:t>completa</a:t>
            </a:r>
            <a:r>
              <a:rPr lang="en-US" sz="1800" dirty="0">
                <a:latin typeface="Arial"/>
                <a:ea typeface="+mn-lt"/>
                <a:cs typeface="+mn-lt"/>
              </a:rPr>
              <a:t> de </a:t>
            </a:r>
            <a:r>
              <a:rPr lang="en-US" sz="1800" err="1">
                <a:latin typeface="Arial"/>
                <a:ea typeface="+mn-lt"/>
                <a:cs typeface="+mn-lt"/>
              </a:rPr>
              <a:t>contenido</a:t>
            </a:r>
            <a:endParaRPr lang="en-US" err="1"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endParaRPr lang="en-US" sz="1800" dirty="0">
              <a:latin typeface="Arial"/>
              <a:cs typeface="Arial"/>
            </a:endParaRPr>
          </a:p>
          <a:p>
            <a:endParaRPr lang="en-US" sz="1800" dirty="0">
              <a:latin typeface="Arial"/>
              <a:cs typeface="Arial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48F6EE11-2DC4-340D-1B21-F78FAF41AE76}"/>
              </a:ext>
            </a:extLst>
          </p:cNvPr>
          <p:cNvCxnSpPr/>
          <p:nvPr/>
        </p:nvCxnSpPr>
        <p:spPr>
          <a:xfrm flipV="1">
            <a:off x="2145445" y="1431463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7D0006B8-E30B-F40A-2DB8-38C0CE5336AE}"/>
              </a:ext>
            </a:extLst>
          </p:cNvPr>
          <p:cNvSpPr/>
          <p:nvPr/>
        </p:nvSpPr>
        <p:spPr>
          <a:xfrm>
            <a:off x="2040835" y="1863659"/>
            <a:ext cx="5564605" cy="38465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01176E9-ADDB-3E92-EEE6-8E892F635D1F}"/>
              </a:ext>
            </a:extLst>
          </p:cNvPr>
          <p:cNvCxnSpPr/>
          <p:nvPr/>
        </p:nvCxnSpPr>
        <p:spPr>
          <a:xfrm>
            <a:off x="2040836" y="3414030"/>
            <a:ext cx="5564604" cy="1002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18845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5D227-6F61-B179-D44D-E93BF57C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9510D-3ED6-2E60-CE85-B7BE2DC1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396" y="678180"/>
            <a:ext cx="4852035" cy="7177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Arial"/>
                <a:ea typeface="+mj-lt"/>
                <a:cs typeface="Arial"/>
              </a:rPr>
              <a:t>Framework UI </a:t>
            </a:r>
            <a:r>
              <a:rPr lang="en-US" sz="2200" b="1" dirty="0" err="1">
                <a:solidFill>
                  <a:srgbClr val="000000"/>
                </a:solidFill>
                <a:latin typeface="Arial"/>
                <a:ea typeface="+mj-lt"/>
                <a:cs typeface="Arial"/>
              </a:rPr>
              <a:t>Mantenido</a:t>
            </a:r>
            <a:endParaRPr lang="es-ES" dirty="0" err="1">
              <a:latin typeface="Aptos Display"/>
              <a:cs typeface="Arial"/>
            </a:endParaRPr>
          </a:p>
          <a:p>
            <a:endParaRPr lang="en-US" sz="2000" b="1" dirty="0">
              <a:latin typeface="Arial"/>
              <a:cs typeface="Arial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5CB0B6-82D1-47CB-AA75-AC48C61CD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698" y="1934632"/>
            <a:ext cx="4729442" cy="446865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Bootstrap 5 Integrado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✓ Sistema de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grillas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responsive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✓ Componentes (cards, forms, nav)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✓ Utilidades de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diseño</a:t>
            </a:r>
            <a:endParaRPr lang="es-ES" sz="1800" b="1" dirty="0" err="1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endParaRPr lang="en-US" sz="1800" b="1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Responsividad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Conservada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• </a:t>
            </a:r>
            <a:r>
              <a:rPr lang="en-US" sz="1800" b="1" dirty="0">
                <a:latin typeface="Arial"/>
                <a:ea typeface="+mn-lt"/>
                <a:cs typeface="Arial"/>
              </a:rPr>
              <a:t>Mobile-first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Navegación</a:t>
            </a:r>
            <a:r>
              <a:rPr lang="en-US" sz="1800" b="1" dirty="0">
                <a:latin typeface="Arial"/>
                <a:ea typeface="+mn-lt"/>
                <a:cs typeface="Arial"/>
              </a:rPr>
              <a:t>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colapsable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Optimización</a:t>
            </a:r>
            <a:r>
              <a:rPr lang="en-US" sz="1800" b="1" dirty="0">
                <a:latin typeface="Arial"/>
                <a:ea typeface="+mn-lt"/>
                <a:cs typeface="Arial"/>
              </a:rPr>
              <a:t> para touch</a:t>
            </a: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endParaRPr lang="en-US" sz="1800" b="1" dirty="0">
              <a:latin typeface="Arial"/>
              <a:ea typeface="+mn-lt"/>
              <a:cs typeface="Arial"/>
            </a:endParaRPr>
          </a:p>
          <a:p>
            <a:r>
              <a:rPr lang="en-US" sz="1800" b="1" dirty="0" err="1">
                <a:latin typeface="Arial"/>
                <a:ea typeface="+mn-lt"/>
                <a:cs typeface="Arial"/>
              </a:rPr>
              <a:t>Mejoras</a:t>
            </a:r>
            <a:r>
              <a:rPr lang="en-US" sz="1800" b="1" dirty="0">
                <a:latin typeface="Arial"/>
                <a:ea typeface="+mn-lt"/>
                <a:cs typeface="Arial"/>
              </a:rPr>
              <a:t>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Visuales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Paleta de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colores</a:t>
            </a:r>
            <a:r>
              <a:rPr lang="en-US" sz="1800" b="1" dirty="0">
                <a:latin typeface="Arial"/>
                <a:ea typeface="+mn-lt"/>
                <a:cs typeface="Arial"/>
              </a:rPr>
              <a:t> con variables CSS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Font Awesome 6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•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Animaciones</a:t>
            </a:r>
            <a:r>
              <a:rPr lang="en-US" sz="1800" b="1" dirty="0">
                <a:latin typeface="Arial"/>
                <a:ea typeface="+mn-lt"/>
                <a:cs typeface="Arial"/>
              </a:rPr>
              <a:t> CSS</a:t>
            </a:r>
            <a:endParaRPr lang="en-US" dirty="0"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endParaRPr lang="en-US" sz="1800" b="1" dirty="0">
              <a:latin typeface="Arial"/>
              <a:cs typeface="Arial"/>
            </a:endParaRPr>
          </a:p>
          <a:p>
            <a:endParaRPr lang="en-US" sz="1800" dirty="0">
              <a:latin typeface="Arial"/>
              <a:cs typeface="Arial"/>
            </a:endParaRPr>
          </a:p>
          <a:p>
            <a:endParaRPr lang="en-US" sz="1800" dirty="0">
              <a:latin typeface="Arial"/>
              <a:cs typeface="Arial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FB692B7-F017-B7FA-33EC-5B81D58C2B4B}"/>
              </a:ext>
            </a:extLst>
          </p:cNvPr>
          <p:cNvCxnSpPr/>
          <p:nvPr/>
        </p:nvCxnSpPr>
        <p:spPr>
          <a:xfrm flipV="1">
            <a:off x="349758" y="1081923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0C1011F5-3077-7771-1D04-CAB6BD416A7E}"/>
              </a:ext>
            </a:extLst>
          </p:cNvPr>
          <p:cNvSpPr/>
          <p:nvPr/>
        </p:nvSpPr>
        <p:spPr>
          <a:xfrm>
            <a:off x="296615" y="1619807"/>
            <a:ext cx="5564605" cy="4952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1FA5218-3813-9585-D255-76089468A152}"/>
              </a:ext>
            </a:extLst>
          </p:cNvPr>
          <p:cNvCxnSpPr/>
          <p:nvPr/>
        </p:nvCxnSpPr>
        <p:spPr>
          <a:xfrm>
            <a:off x="296616" y="3264123"/>
            <a:ext cx="5564604" cy="1002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6868652-6E32-6483-93EC-BADAA8338AAA}"/>
              </a:ext>
            </a:extLst>
          </p:cNvPr>
          <p:cNvCxnSpPr>
            <a:cxnSpLocks/>
          </p:cNvCxnSpPr>
          <p:nvPr/>
        </p:nvCxnSpPr>
        <p:spPr>
          <a:xfrm>
            <a:off x="296616" y="4808175"/>
            <a:ext cx="5564604" cy="1002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8AA34E7-877B-B2D7-F848-3C37A6C00C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06" t="9426" r="13055" b="1698"/>
          <a:stretch>
            <a:fillRect/>
          </a:stretch>
        </p:blipFill>
        <p:spPr>
          <a:xfrm>
            <a:off x="5941751" y="560917"/>
            <a:ext cx="6027640" cy="60951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55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6CC93-D8B2-DB3C-A052-57727C38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D8003D2-3764-8ABF-D0F6-377F5B75E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242" y="151600"/>
            <a:ext cx="6401752" cy="14229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b="1" dirty="0">
                <a:latin typeface="Arial"/>
                <a:cs typeface="Arial"/>
              </a:rPr>
              <a:t>Anexos (1)</a:t>
            </a:r>
          </a:p>
          <a:p>
            <a:endParaRPr lang="es-CL" dirty="0">
              <a:latin typeface="Arial"/>
              <a:cs typeface="Arial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550841BD-1909-7725-A590-43E49F7DA6BC}"/>
              </a:ext>
            </a:extLst>
          </p:cNvPr>
          <p:cNvCxnSpPr/>
          <p:nvPr/>
        </p:nvCxnSpPr>
        <p:spPr>
          <a:xfrm flipV="1">
            <a:off x="3308333" y="924431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Marcador de contenido 1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AFCB637-066F-CF7F-96F2-6892B7CE4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53097" y="1444625"/>
            <a:ext cx="7716473" cy="43513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1065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1BA06D-8C56-FA91-A711-7C218959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A3AC385-39B2-C697-54AF-4CDF83EA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242" y="172477"/>
            <a:ext cx="6401752" cy="14229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b="1" dirty="0">
                <a:latin typeface="Arial"/>
                <a:cs typeface="Arial"/>
              </a:rPr>
              <a:t>Anexos (2)</a:t>
            </a:r>
          </a:p>
          <a:p>
            <a:endParaRPr lang="es-CL" dirty="0">
              <a:latin typeface="Arial"/>
              <a:cs typeface="Arial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C0C1F41-A4F1-27DB-C1E4-B8B10EEBA7E1}"/>
              </a:ext>
            </a:extLst>
          </p:cNvPr>
          <p:cNvCxnSpPr/>
          <p:nvPr/>
        </p:nvCxnSpPr>
        <p:spPr>
          <a:xfrm flipV="1">
            <a:off x="3308333" y="945308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Marcador de contenido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58AFD69-E5DE-0245-B002-18D63EF4E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5185" y="1328208"/>
            <a:ext cx="8739463" cy="43513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0989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9D68D-A2BF-F6C3-26D9-BAAE0CA0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33B2868-3482-5E41-A4F3-189A64E27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59" y="271206"/>
            <a:ext cx="6401752" cy="14229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b="1" dirty="0">
                <a:latin typeface="Arial"/>
                <a:cs typeface="Arial"/>
              </a:rPr>
              <a:t>Anexos (3)</a:t>
            </a:r>
          </a:p>
          <a:p>
            <a:endParaRPr lang="es-CL" dirty="0">
              <a:latin typeface="Arial"/>
              <a:cs typeface="Arial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4561C7F0-B52D-0DC0-88B5-28E38A7D7DEC}"/>
              </a:ext>
            </a:extLst>
          </p:cNvPr>
          <p:cNvCxnSpPr/>
          <p:nvPr/>
        </p:nvCxnSpPr>
        <p:spPr>
          <a:xfrm flipV="1">
            <a:off x="3297750" y="1044037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D8F2B37F-993B-28DF-7CB2-7E16EB05E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1544" y="1825625"/>
            <a:ext cx="8288912" cy="43513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3164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62201-E8C5-CC47-B345-D65C6FA2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EAA4B3-1027-30A5-A035-747462C4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242" y="355873"/>
            <a:ext cx="6401752" cy="14229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b="1" dirty="0">
                <a:latin typeface="Arial"/>
                <a:cs typeface="Arial"/>
              </a:rPr>
              <a:t>Anexos (4)</a:t>
            </a:r>
          </a:p>
          <a:p>
            <a:endParaRPr lang="es-CL" dirty="0">
              <a:latin typeface="Arial"/>
              <a:cs typeface="Arial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888FF1D4-B762-585C-713D-0031513E120E}"/>
              </a:ext>
            </a:extLst>
          </p:cNvPr>
          <p:cNvCxnSpPr/>
          <p:nvPr/>
        </p:nvCxnSpPr>
        <p:spPr>
          <a:xfrm flipV="1">
            <a:off x="3308333" y="1128704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Marcador de contenido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03A5469-C0D1-6B02-1463-EA6F46223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54399" y="1497542"/>
            <a:ext cx="8483201" cy="43513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3858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F5EA8-C8B2-849D-1956-524DECCD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F60F3E6-7427-5F88-210B-5FF82DD7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3301" y="-78044"/>
            <a:ext cx="6401752" cy="14229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b="1" dirty="0">
                <a:latin typeface="Arial"/>
                <a:cs typeface="Arial"/>
              </a:rPr>
              <a:t>Conclusiones</a:t>
            </a:r>
          </a:p>
          <a:p>
            <a:endParaRPr lang="es-CL" dirty="0">
              <a:latin typeface="Arial"/>
              <a:cs typeface="Arial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9EA694FF-F21E-EAEF-63A1-F21C6D78A933}"/>
              </a:ext>
            </a:extLst>
          </p:cNvPr>
          <p:cNvCxnSpPr/>
          <p:nvPr/>
        </p:nvCxnSpPr>
        <p:spPr>
          <a:xfrm flipV="1">
            <a:off x="3308333" y="694787"/>
            <a:ext cx="5421553" cy="194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Marcador de contenido 2">
            <a:extLst>
              <a:ext uri="{FF2B5EF4-FFF2-40B4-BE49-F238E27FC236}">
                <a16:creationId xmlns:a16="http://schemas.microsoft.com/office/drawing/2014/main" id="{220A1238-68D5-EC86-EC83-4B11B17CD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9622" y="874334"/>
            <a:ext cx="5412330" cy="609059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Arial"/>
                <a:ea typeface="+mn-lt"/>
                <a:cs typeface="Arial"/>
              </a:rPr>
              <a:t>El </a:t>
            </a:r>
            <a:r>
              <a:rPr lang="en-US" sz="1800" err="1">
                <a:latin typeface="Arial"/>
                <a:ea typeface="+mn-lt"/>
                <a:cs typeface="Arial"/>
              </a:rPr>
              <a:t>proyecto</a:t>
            </a:r>
            <a:r>
              <a:rPr lang="en-US" sz="1800" dirty="0">
                <a:latin typeface="Arial"/>
                <a:ea typeface="+mn-lt"/>
                <a:cs typeface="Arial"/>
              </a:rPr>
              <a:t> </a:t>
            </a:r>
            <a:r>
              <a:rPr lang="en-US" sz="1800" err="1">
                <a:latin typeface="Arial"/>
                <a:ea typeface="+mn-lt"/>
                <a:cs typeface="Arial"/>
              </a:rPr>
              <a:t>representa</a:t>
            </a:r>
            <a:r>
              <a:rPr lang="en-US" sz="1800" dirty="0">
                <a:latin typeface="Arial"/>
                <a:ea typeface="+mn-lt"/>
                <a:cs typeface="Arial"/>
              </a:rPr>
              <a:t> </a:t>
            </a:r>
            <a:r>
              <a:rPr lang="en-US" sz="1800" err="1">
                <a:latin typeface="Arial"/>
                <a:ea typeface="+mn-lt"/>
                <a:cs typeface="Arial"/>
              </a:rPr>
              <a:t>una</a:t>
            </a:r>
            <a:r>
              <a:rPr lang="en-US" sz="1800" dirty="0">
                <a:latin typeface="Arial"/>
                <a:ea typeface="+mn-lt"/>
                <a:cs typeface="Arial"/>
              </a:rPr>
              <a:t> </a:t>
            </a:r>
            <a:r>
              <a:rPr lang="en-US" sz="1800" b="1" err="1">
                <a:latin typeface="Arial"/>
                <a:ea typeface="+mn-lt"/>
                <a:cs typeface="Arial"/>
              </a:rPr>
              <a:t>migración</a:t>
            </a:r>
            <a:r>
              <a:rPr lang="en-US" sz="1800" b="1" dirty="0">
                <a:latin typeface="Arial"/>
                <a:ea typeface="+mn-lt"/>
                <a:cs typeface="Arial"/>
              </a:rPr>
              <a:t> </a:t>
            </a:r>
            <a:r>
              <a:rPr lang="en-US" sz="1800" b="1" err="1">
                <a:latin typeface="Arial"/>
                <a:ea typeface="+mn-lt"/>
                <a:cs typeface="Arial"/>
              </a:rPr>
              <a:t>exitosa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de un sitio web </a:t>
            </a:r>
            <a:r>
              <a:rPr lang="en-US" sz="1800" b="1" err="1">
                <a:latin typeface="Arial"/>
                <a:ea typeface="+mn-lt"/>
                <a:cs typeface="Arial"/>
              </a:rPr>
              <a:t>estático</a:t>
            </a:r>
            <a:r>
              <a:rPr lang="en-US" sz="1800" b="1" dirty="0">
                <a:latin typeface="Arial"/>
                <a:ea typeface="+mn-lt"/>
                <a:cs typeface="Arial"/>
              </a:rPr>
              <a:t> a </a:t>
            </a:r>
            <a:r>
              <a:rPr lang="en-US" sz="1800" b="1" err="1">
                <a:latin typeface="Arial"/>
                <a:ea typeface="+mn-lt"/>
                <a:cs typeface="Arial"/>
              </a:rPr>
              <a:t>una</a:t>
            </a:r>
            <a:r>
              <a:rPr lang="en-US" sz="1800" b="1" dirty="0">
                <a:latin typeface="Arial"/>
                <a:ea typeface="+mn-lt"/>
                <a:cs typeface="Arial"/>
              </a:rPr>
              <a:t> </a:t>
            </a:r>
            <a:r>
              <a:rPr lang="en-US" sz="1800" b="1" err="1">
                <a:latin typeface="Arial"/>
                <a:ea typeface="+mn-lt"/>
                <a:cs typeface="Arial"/>
              </a:rPr>
              <a:t>aplicación</a:t>
            </a:r>
            <a:r>
              <a:rPr lang="en-US" sz="1800" b="1" dirty="0">
                <a:latin typeface="Arial"/>
                <a:ea typeface="+mn-lt"/>
                <a:cs typeface="Arial"/>
              </a:rPr>
              <a:t> web </a:t>
            </a:r>
            <a:r>
              <a:rPr lang="en-US" sz="1800" b="1" err="1">
                <a:latin typeface="Arial"/>
                <a:ea typeface="+mn-lt"/>
                <a:cs typeface="Arial"/>
              </a:rPr>
              <a:t>dinámica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con </a:t>
            </a:r>
            <a:r>
              <a:rPr lang="en-US" sz="1800" b="1" err="1">
                <a:latin typeface="Arial"/>
                <a:ea typeface="+mn-lt"/>
                <a:cs typeface="Arial"/>
              </a:rPr>
              <a:t>arquitectura</a:t>
            </a:r>
            <a:r>
              <a:rPr lang="en-US" sz="1800" b="1" dirty="0">
                <a:latin typeface="Arial"/>
                <a:ea typeface="+mn-lt"/>
                <a:cs typeface="Arial"/>
              </a:rPr>
              <a:t> MVC</a:t>
            </a:r>
            <a:r>
              <a:rPr lang="en-US" sz="1800" dirty="0">
                <a:latin typeface="Arial"/>
                <a:ea typeface="+mn-lt"/>
                <a:cs typeface="Arial"/>
              </a:rPr>
              <a:t> y </a:t>
            </a:r>
            <a:r>
              <a:rPr lang="en-US" sz="1800" b="1" dirty="0">
                <a:latin typeface="Arial"/>
                <a:ea typeface="+mn-lt"/>
                <a:cs typeface="Arial"/>
              </a:rPr>
              <a:t>PHP </a:t>
            </a:r>
            <a:r>
              <a:rPr lang="en-US" sz="1800" b="1" err="1">
                <a:latin typeface="Arial"/>
                <a:ea typeface="+mn-lt"/>
                <a:cs typeface="Arial"/>
              </a:rPr>
              <a:t>Orientado</a:t>
            </a:r>
            <a:r>
              <a:rPr lang="en-US" sz="1800" b="1" dirty="0">
                <a:latin typeface="Arial"/>
                <a:ea typeface="+mn-lt"/>
                <a:cs typeface="Arial"/>
              </a:rPr>
              <a:t> a Objetos</a:t>
            </a:r>
            <a:r>
              <a:rPr lang="en-US" sz="1800" dirty="0">
                <a:latin typeface="Arial"/>
                <a:ea typeface="+mn-lt"/>
                <a:cs typeface="Arial"/>
              </a:rPr>
              <a:t>.</a:t>
            </a:r>
            <a:endParaRPr lang="es-ES" sz="180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/>
                <a:ea typeface="+mn-lt"/>
                <a:cs typeface="Arial"/>
              </a:rPr>
              <a:t>Se </a:t>
            </a:r>
            <a:r>
              <a:rPr lang="en-US" sz="1800" err="1">
                <a:latin typeface="Arial"/>
                <a:ea typeface="+mn-lt"/>
                <a:cs typeface="Arial"/>
              </a:rPr>
              <a:t>han</a:t>
            </a:r>
            <a:r>
              <a:rPr lang="en-US" sz="1800" dirty="0">
                <a:latin typeface="Arial"/>
                <a:ea typeface="+mn-lt"/>
                <a:cs typeface="Arial"/>
              </a:rPr>
              <a:t> </a:t>
            </a:r>
            <a:r>
              <a:rPr lang="en-US" sz="1800" err="1">
                <a:latin typeface="Arial"/>
                <a:ea typeface="+mn-lt"/>
                <a:cs typeface="Arial"/>
              </a:rPr>
              <a:t>implementado</a:t>
            </a:r>
            <a:r>
              <a:rPr lang="en-US" sz="1800" dirty="0">
                <a:latin typeface="Arial"/>
                <a:ea typeface="+mn-lt"/>
                <a:cs typeface="Arial"/>
              </a:rPr>
              <a:t> </a:t>
            </a:r>
            <a:r>
              <a:rPr lang="en-US" sz="1800" err="1">
                <a:latin typeface="Arial"/>
                <a:ea typeface="+mn-lt"/>
                <a:cs typeface="Arial"/>
              </a:rPr>
              <a:t>todas</a:t>
            </a:r>
            <a:r>
              <a:rPr lang="en-US" sz="1800" dirty="0">
                <a:latin typeface="Arial"/>
                <a:ea typeface="+mn-lt"/>
                <a:cs typeface="Arial"/>
              </a:rPr>
              <a:t> las </a:t>
            </a:r>
            <a:r>
              <a:rPr lang="en-US" sz="1800" b="1" err="1">
                <a:latin typeface="Arial"/>
                <a:ea typeface="+mn-lt"/>
                <a:cs typeface="Arial"/>
              </a:rPr>
              <a:t>funcionalidades</a:t>
            </a:r>
            <a:r>
              <a:rPr lang="en-US" sz="1800" b="1" dirty="0">
                <a:latin typeface="Arial"/>
                <a:ea typeface="+mn-lt"/>
                <a:cs typeface="Arial"/>
              </a:rPr>
              <a:t> </a:t>
            </a:r>
            <a:r>
              <a:rPr lang="en-US" sz="1800" b="1" err="1">
                <a:latin typeface="Arial"/>
                <a:ea typeface="+mn-lt"/>
                <a:cs typeface="Arial"/>
              </a:rPr>
              <a:t>requeridas</a:t>
            </a:r>
            <a:r>
              <a:rPr lang="en-US" sz="1800" dirty="0">
                <a:latin typeface="Arial"/>
                <a:ea typeface="+mn-lt"/>
                <a:cs typeface="Arial"/>
              </a:rPr>
              <a:t>,</a:t>
            </a:r>
            <a:br>
              <a:rPr lang="en-US" sz="1800" dirty="0">
                <a:latin typeface="Arial"/>
                <a:ea typeface="+mn-lt"/>
                <a:cs typeface="Arial"/>
              </a:rPr>
            </a:br>
            <a:r>
              <a:rPr lang="en-US" sz="1800" dirty="0">
                <a:latin typeface="Arial"/>
                <a:ea typeface="+mn-lt"/>
                <a:cs typeface="Arial"/>
              </a:rPr>
              <a:t> </a:t>
            </a:r>
            <a:r>
              <a:rPr lang="en-US" sz="1800" err="1">
                <a:latin typeface="Arial"/>
                <a:ea typeface="+mn-lt"/>
                <a:cs typeface="Arial"/>
              </a:rPr>
              <a:t>manteniendo</a:t>
            </a:r>
            <a:r>
              <a:rPr lang="en-US" sz="1800" dirty="0">
                <a:latin typeface="Arial"/>
                <a:ea typeface="+mn-lt"/>
                <a:cs typeface="Arial"/>
              </a:rPr>
              <a:t> la </a:t>
            </a:r>
            <a:r>
              <a:rPr lang="en-US" sz="1800" b="1" err="1">
                <a:latin typeface="Arial"/>
                <a:ea typeface="+mn-lt"/>
                <a:cs typeface="Arial"/>
              </a:rPr>
              <a:t>calidad</a:t>
            </a:r>
            <a:r>
              <a:rPr lang="en-US" sz="1800" b="1" dirty="0">
                <a:latin typeface="Arial"/>
                <a:ea typeface="+mn-lt"/>
                <a:cs typeface="Arial"/>
              </a:rPr>
              <a:t> del </a:t>
            </a:r>
            <a:r>
              <a:rPr lang="en-US" sz="1800" b="1" err="1">
                <a:latin typeface="Arial"/>
                <a:ea typeface="+mn-lt"/>
                <a:cs typeface="Arial"/>
              </a:rPr>
              <a:t>diseño</a:t>
            </a:r>
            <a:br>
              <a:rPr lang="en-US" sz="1800" b="1" dirty="0">
                <a:latin typeface="Arial"/>
                <a:ea typeface="+mn-lt"/>
                <a:cs typeface="Arial"/>
              </a:rPr>
            </a:br>
            <a:r>
              <a:rPr lang="en-US" sz="1800" b="1" dirty="0">
                <a:latin typeface="Arial"/>
                <a:ea typeface="+mn-lt"/>
                <a:cs typeface="Arial"/>
              </a:rPr>
              <a:t> y la </a:t>
            </a:r>
            <a:r>
              <a:rPr lang="en-US" sz="1800" b="1" err="1">
                <a:latin typeface="Arial"/>
                <a:ea typeface="+mn-lt"/>
                <a:cs typeface="Arial"/>
              </a:rPr>
              <a:t>experiencia</a:t>
            </a:r>
            <a:r>
              <a:rPr lang="en-US" sz="1800" b="1" dirty="0">
                <a:latin typeface="Arial"/>
                <a:ea typeface="+mn-lt"/>
                <a:cs typeface="Arial"/>
              </a:rPr>
              <a:t> de </a:t>
            </a:r>
            <a:r>
              <a:rPr lang="en-US" sz="1800" b="1" err="1">
                <a:latin typeface="Arial"/>
                <a:ea typeface="+mn-lt"/>
                <a:cs typeface="Arial"/>
              </a:rPr>
              <a:t>usuario</a:t>
            </a:r>
            <a:r>
              <a:rPr lang="en-US" sz="1800" dirty="0">
                <a:latin typeface="Arial"/>
                <a:ea typeface="+mn-lt"/>
                <a:cs typeface="Arial"/>
              </a:rPr>
              <a:t>.</a:t>
            </a:r>
            <a:endParaRPr lang="en-US" sz="180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1800" b="1" dirty="0" err="1">
                <a:latin typeface="Arial"/>
                <a:ea typeface="+mn-lt"/>
                <a:cs typeface="Arial"/>
              </a:rPr>
              <a:t>Tecnologías</a:t>
            </a:r>
            <a:r>
              <a:rPr lang="en-US" sz="1800" b="1" dirty="0">
                <a:latin typeface="Arial"/>
                <a:ea typeface="+mn-lt"/>
                <a:cs typeface="Arial"/>
              </a:rPr>
              <a:t> </a:t>
            </a:r>
            <a:r>
              <a:rPr lang="en-US" sz="1800" b="1" dirty="0" err="1">
                <a:latin typeface="Arial"/>
                <a:ea typeface="+mn-lt"/>
                <a:cs typeface="Arial"/>
              </a:rPr>
              <a:t>dominadas</a:t>
            </a:r>
            <a:r>
              <a:rPr lang="en-US" sz="1800" dirty="0">
                <a:latin typeface="Arial"/>
                <a:ea typeface="+mn-lt"/>
                <a:cs typeface="Arial"/>
              </a:rPr>
              <a:t>:</a:t>
            </a:r>
            <a:br>
              <a:rPr lang="en-US" sz="1800" dirty="0">
                <a:latin typeface="Arial"/>
                <a:ea typeface="+mn-lt"/>
                <a:cs typeface="Arial"/>
              </a:rPr>
            </a:br>
            <a:r>
              <a:rPr lang="en-US" sz="1800" dirty="0">
                <a:latin typeface="Arial"/>
                <a:ea typeface="+mn-lt"/>
                <a:cs typeface="Arial"/>
              </a:rPr>
              <a:t> PHP, CodeIgniter 4, MySQL, Bootstrap 5, JavaScript/AJAX.</a:t>
            </a:r>
            <a:endParaRPr lang="en-US" sz="1800" dirty="0">
              <a:latin typeface="Arial"/>
              <a:cs typeface="Arial"/>
            </a:endParaRPr>
          </a:p>
          <a:p>
            <a:pPr marL="0" indent="0" algn="ctr">
              <a:buNone/>
            </a:pPr>
            <a:r>
              <a:rPr lang="en-US" b="1" dirty="0">
                <a:latin typeface="Arial"/>
                <a:cs typeface="Arial"/>
              </a:rPr>
              <a:t>¡GRACIAS!</a:t>
            </a:r>
            <a:endParaRPr lang="en-US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endParaRPr lang="en-US" sz="2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E22BEEF-821E-ED22-5788-53629314B77C}"/>
              </a:ext>
            </a:extLst>
          </p:cNvPr>
          <p:cNvSpPr/>
          <p:nvPr/>
        </p:nvSpPr>
        <p:spPr>
          <a:xfrm>
            <a:off x="3308683" y="879020"/>
            <a:ext cx="5584657" cy="5897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0053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EC16E57C49FB4C8FC2068EAA100277" ma:contentTypeVersion="29" ma:contentTypeDescription="Crear nuevo documento." ma:contentTypeScope="" ma:versionID="213e68402eea7ee67e92a7e85787514f">
  <xsd:schema xmlns:xsd="http://www.w3.org/2001/XMLSchema" xmlns:xs="http://www.w3.org/2001/XMLSchema" xmlns:p="http://schemas.microsoft.com/office/2006/metadata/properties" xmlns:ns2="f9d6f6a8-4c53-4eb2-bc43-5970dc157c21" xmlns:ns3="cde5a5e2-932b-4139-8354-a8de2ed6db86" targetNamespace="http://schemas.microsoft.com/office/2006/metadata/properties" ma:root="true" ma:fieldsID="cae16da778cf5b9ab526a32f8390a014" ns2:_="" ns3:_="">
    <xsd:import namespace="f9d6f6a8-4c53-4eb2-bc43-5970dc157c21"/>
    <xsd:import namespace="cde5a5e2-932b-4139-8354-a8de2ed6db86"/>
    <xsd:element name="properties">
      <xsd:complexType>
        <xsd:sequence>
          <xsd:element name="documentManagement">
            <xsd:complexType>
              <xsd:all>
                <xsd:element ref="ns2:Estado" minOccurs="0"/>
                <xsd:element ref="ns2:Fecha_x0020__x00fa_ltimo_x0020_recurso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Prueba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d6f6a8-4c53-4eb2-bc43-5970dc157c21" elementFormDefault="qualified">
    <xsd:import namespace="http://schemas.microsoft.com/office/2006/documentManagement/types"/>
    <xsd:import namespace="http://schemas.microsoft.com/office/infopath/2007/PartnerControls"/>
    <xsd:element name="Estado" ma:index="4" nillable="true" ma:displayName="Estado" ma:format="Dropdown" ma:internalName="Estado">
      <xsd:simpleType>
        <xsd:restriction base="dms:Choice">
          <xsd:enumeration value="1-Entregado por DI"/>
          <xsd:enumeration value="2-Revisado por editor"/>
          <xsd:enumeration value="3-En producción multimedia"/>
          <xsd:enumeration value="4-Finalizada producción multimedia del RED"/>
        </xsd:restriction>
      </xsd:simpleType>
    </xsd:element>
    <xsd:element name="Fecha_x0020__x00fa_ltimo_x0020_recurso" ma:index="6" nillable="true" ma:displayName="Fecha_x0020__x00fa_ltimo_x0020_recurso" ma:format="DateTime" ma:internalName="Fecha_x0020__x00fa_ltimo_x0020_recurso" ma:readOnly="false">
      <xsd:simpleType>
        <xsd:restriction base="dms:DateTim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4" nillable="true" ma:displayName="Estado de aprobación" ma:internalName="Estado_x0020_de_x0020_aprobaci_x00f3_n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Etiquetas de imagen" ma:readOnly="false" ma:fieldId="{5cf76f15-5ced-4ddc-b409-7134ff3c332f}" ma:taxonomyMulti="true" ma:sspId="7ba64f34-471c-444f-bec6-6dfeaafbb2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Prueba" ma:index="26" nillable="true" ma:displayName="Prueba" ma:description="ssss" ma:format="Dropdown" ma:internalName="Prueba">
      <xsd:simpleType>
        <xsd:restriction base="dms:Note">
          <xsd:maxLength value="255"/>
        </xsd:restriction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e5a5e2-932b-4139-8354-a8de2ed6db86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Compartido con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881ea69d-6923-4d13-9ad4-ad9a59669bdd}" ma:internalName="TaxCatchAll" ma:showField="CatchAllData" ma:web="cde5a5e2-932b-4139-8354-a8de2ed6db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Tipo de contenido"/>
        <xsd:element ref="dc:title" minOccurs="0" maxOccurs="1" ma:index="3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d6f6a8-4c53-4eb2-bc43-5970dc157c21">
      <Terms xmlns="http://schemas.microsoft.com/office/infopath/2007/PartnerControls"/>
    </lcf76f155ced4ddcb4097134ff3c332f>
    <Prueba xmlns="f9d6f6a8-4c53-4eb2-bc43-5970dc157c21" xsi:nil="true"/>
    <Estado xmlns="f9d6f6a8-4c53-4eb2-bc43-5970dc157c21" xsi:nil="true"/>
    <TaxCatchAll xmlns="cde5a5e2-932b-4139-8354-a8de2ed6db86" xsi:nil="true"/>
    <Fecha_x0020__x00fa_ltimo_x0020_recurso xmlns="f9d6f6a8-4c53-4eb2-bc43-5970dc157c21" xsi:nil="true"/>
    <_Flow_SignoffStatus xmlns="f9d6f6a8-4c53-4eb2-bc43-5970dc157c21" xsi:nil="true"/>
  </documentManagement>
</p:properties>
</file>

<file path=customXml/itemProps1.xml><?xml version="1.0" encoding="utf-8"?>
<ds:datastoreItem xmlns:ds="http://schemas.openxmlformats.org/officeDocument/2006/customXml" ds:itemID="{5A8AA999-5293-440F-BC4F-10F242A162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4ED49D-9D2B-4BC5-ABC6-7C5D64F8301C}">
  <ds:schemaRefs>
    <ds:schemaRef ds:uri="cde5a5e2-932b-4139-8354-a8de2ed6db86"/>
    <ds:schemaRef ds:uri="f9d6f6a8-4c53-4eb2-bc43-5970dc157c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F5F1D3-D927-4CFB-AE90-496165951F4E}">
  <ds:schemaRefs>
    <ds:schemaRef ds:uri="cde5a5e2-932b-4139-8354-a8de2ed6db86"/>
    <ds:schemaRef ds:uri="f9d6f6a8-4c53-4eb2-bc43-5970dc157c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Office Theme</vt:lpstr>
      <vt:lpstr>"ACTUALIZACIÓN "EL FARO"</vt:lpstr>
      <vt:lpstr>Descripción del proyecto </vt:lpstr>
      <vt:lpstr>Entidades del sistema </vt:lpstr>
      <vt:lpstr>Arquitectura MVC   </vt:lpstr>
      <vt:lpstr>   Diagrama de clases (parte 1)  </vt:lpstr>
      <vt:lpstr>   Diagrama de clases (parte 2)  </vt:lpstr>
      <vt:lpstr>Estructura de carpetas </vt:lpstr>
      <vt:lpstr>Formularios implementados </vt:lpstr>
      <vt:lpstr>   Bases de datos (parte 1)  </vt:lpstr>
      <vt:lpstr>   Bases de datos (parte 2)  </vt:lpstr>
      <vt:lpstr>Medidas de seguridad. </vt:lpstr>
      <vt:lpstr>Acesso al sitio </vt:lpstr>
      <vt:lpstr>Framework UI Mantenido </vt:lpstr>
      <vt:lpstr>Anexos (1) </vt:lpstr>
      <vt:lpstr>Anexos (2) </vt:lpstr>
      <vt:lpstr>Anexos (3) </vt:lpstr>
      <vt:lpstr>Anexos (4) </vt:lpstr>
      <vt:lpstr>Conclusiones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Alonso Vargas Farias</dc:creator>
  <cp:revision>1908</cp:revision>
  <dcterms:created xsi:type="dcterms:W3CDTF">2024-07-26T19:13:32Z</dcterms:created>
  <dcterms:modified xsi:type="dcterms:W3CDTF">2025-09-27T00:29:44Z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0x010100FBEC16E57C49FB4C8FC2068EAA100277</vt:lpwstr>
  </property>
  <property fmtid="{D5CDD505-2E9C-101B-9397-08002B2CF9AE}" pid="3" name="ArticulateGUID">
    <vt:lpwstr>BFA8F70C-FB9E-450B-B1DA-FB3867193A8D</vt:lpwstr>
  </property>
  <property fmtid="{D5CDD505-2E9C-101B-9397-08002B2CF9AE}" pid="4" name="ArticulatePath">
    <vt:lpwstr>https://ipaiep.sharepoint.com/sites/DIyDDM/Documentos compartidos/Documentos Diseño Instruccional/Kit experto disciplinar 2024/Material Kit experto disciplinar 2025 (actualizaciones)/Plantilla presentación AIEP</vt:lpwstr>
  </property>
  <property fmtid="{D5CDD505-2E9C-101B-9397-08002B2CF9AE}" pid="5" name="MediaServiceImageTags">
    <vt:lpwstr/>
  </property>
</Properties>
</file>